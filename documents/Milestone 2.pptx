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71" r:id="rId3"/>
    <p:sldId id="272" r:id="rId4"/>
    <p:sldId id="258" r:id="rId5"/>
    <p:sldId id="286" r:id="rId6"/>
    <p:sldId id="296" r:id="rId7"/>
    <p:sldId id="288" r:id="rId8"/>
    <p:sldId id="289" r:id="rId9"/>
    <p:sldId id="262" r:id="rId10"/>
    <p:sldId id="297" r:id="rId11"/>
    <p:sldId id="298" r:id="rId12"/>
    <p:sldId id="299" r:id="rId13"/>
    <p:sldId id="291" r:id="rId14"/>
    <p:sldId id="292" r:id="rId15"/>
    <p:sldId id="293" r:id="rId16"/>
    <p:sldId id="285" r:id="rId17"/>
    <p:sldId id="290" r:id="rId18"/>
    <p:sldId id="295" r:id="rId19"/>
    <p:sldId id="294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A3156-6105-40C3-95D3-03E84B9D83BB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D5712-572D-4876-BAB6-54AB93BE76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7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3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37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B612-5510-A6E6-7211-22988DDD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73492-0849-C7FB-63F9-923729A3B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59639-ADD6-AE4A-5FFF-B29120A8B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0338-986A-E7D1-0234-F6A5D8482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28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9784-64A8-93C9-B00C-C727AC7F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528C5-06A2-11D6-019F-55514755C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3D97D-BAD5-9D15-BD17-1A6AC952D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E82F-6DC3-6D97-E73B-094D872CE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03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342D-A898-D618-A08A-5510AC8E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CF209-4A55-2066-3F08-517988EEB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50413-E94C-2B14-FCB4-2CEDA6C0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903B3-1C05-C422-26C7-FB3363FF7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3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C3C6-39E8-617E-16A4-F7D6703A6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59241-EBA2-DD9C-BBC8-CF51E1C70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F1CCF-7B13-D807-71C3-72FB46E2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B1A7-6B62-3116-7312-E4F2A626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B0B4F-2151-5687-039A-55E4B24D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3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E4E2-A85C-8BCF-451C-01E126B0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C7A36-6E1F-E092-F13E-10FE4DCD9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07504-F7B3-3595-56FF-60C15D81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9AE0-5838-9427-3183-EFB7DD32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B62B3-400D-1390-2A3F-DA629B1A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2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FB7D-A531-D937-1774-C0C31E46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C479-2513-7B1D-0D8B-F55D47ACC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4E77-2BC2-600A-AB33-6B5626EA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A8361-83DA-650B-9C5C-D14B18A8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7E105-8AEC-BAB9-A581-4D7CAB95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1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A2F5-13E9-6B04-A74B-8EA2F833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5627-CAEA-A8B8-6D00-FBFA2BAC3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CF0D0-A541-5C1F-A268-FFD003AF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D741F-5C92-831F-51BB-04CCC0A5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63A05-E450-EE71-1659-C75C4114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D8582-F256-D83E-01E9-34F4567D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5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3B39-25F8-17A4-0F99-AFF30E8D6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2D459-88D6-17A4-19D0-FA23C2A3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DF37B-26EA-59DD-2170-F79085BA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37B7E-09FC-D1AB-4789-E3ED607CD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6EBA2-82CE-2D83-CF37-B34449F87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229D3-0162-C743-D3DB-F3BE21E0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EDDBA-29DC-4DE5-F4E7-152D8B6D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E0A3A-1E77-C361-81D2-DF82D86F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1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FF10-B2F0-6AEE-16F5-808DB83C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D0B49-B859-CFDB-DA43-801F701A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7A9F7-0FBF-F14D-8316-AF0F85B4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DF8E6-5F94-9CA0-F9AC-04DD3669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39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3EF26-1925-B090-DCED-EF6A6AC7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98EC8-4204-3CB4-789B-23B0EDAD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A7566-1A1F-A1BA-914F-E181204F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7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19FB-E7B0-D6D6-32A2-70127901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44EB-A51E-00F4-81E8-DF72E244C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325C0-31D9-5DBB-D4FF-231AD136C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23593-0BFD-57DD-65EE-6767D53E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5E378-2534-492A-0CB3-914B011E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17B76-B8CB-4F01-BA0E-789849A9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CCF1-4634-F1F8-7012-32241D38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840E2-2717-1FB7-570B-606801024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865F9-FE50-294E-AD54-A19957FC6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B4AAF-0A3C-96A9-A075-87AC92B5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65008-B45D-740A-633D-F3EDFA87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47FC6-0D74-0AF3-252B-FB60468F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44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48CC-F8EB-970A-3D7D-B38BCDB8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F437C-F62E-363E-1199-B45F1A4D3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ECA6-F4AD-F7B6-0BD7-1FE7D8A3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6AF9-210D-8E33-3D55-DEE8C0BC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38BA-6B5B-DB7A-7609-3210A1F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1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43CCF-AA0B-5CA1-F22F-A608E310E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04440-F83B-30E0-AADE-A1A31AA3B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4097F-526A-8480-07F1-29E78C94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C345-5667-6C1E-8A72-0C3F81D3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B914-24EE-3E50-9814-49A58F14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11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EE200-D1BC-F5E2-EBA5-824800628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5D090-E545-8CE0-7648-2302480FB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4DB9A-08EC-CDEA-348A-AE0E7AF9C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697A7-5577-4E96-8C01-D927038ABAB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65314-5034-386B-96EF-A840F69A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E313-C2BB-9211-A29A-93900856E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59F5B-49D2-41D7-8B70-1D5B0DED39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6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2">
            <a:extLst>
              <a:ext uri="{FF2B5EF4-FFF2-40B4-BE49-F238E27FC236}">
                <a16:creationId xmlns:a16="http://schemas.microsoft.com/office/drawing/2014/main" id="{D566566A-9619-3354-9F50-6134610A34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7" name="Subtitle 2"/>
          <p:cNvSpPr>
            <a:spLocks noGrp="1"/>
          </p:cNvSpPr>
          <p:nvPr>
            <p:ph type="ctrTitle"/>
          </p:nvPr>
        </p:nvSpPr>
        <p:spPr>
          <a:xfrm>
            <a:off x="1382332" y="1229611"/>
            <a:ext cx="9144000" cy="2459990"/>
          </a:xfrm>
        </p:spPr>
        <p:txBody>
          <a:bodyPr/>
          <a:lstStyle/>
          <a:p>
            <a:pPr eaLnBrk="1" hangingPunct="1"/>
            <a:br>
              <a:rPr lang="en-US" altLang="en-US" sz="1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en-US" sz="1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l" eaLnBrk="1" hangingPunct="1"/>
            <a:endParaRPr lang="en-US" altLang="en-US" sz="16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36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Shanmukha Rao Sahukari                   </a:t>
            </a:r>
            <a:br>
              <a:rPr lang="en-US" altLang="en-US" sz="1600" dirty="0">
                <a:latin typeface="Times New Roman" pitchFamily="18" charset="0"/>
                <a:cs typeface="Times New Roman" pitchFamily="18" charset="0"/>
              </a:rPr>
            </a:br>
            <a:endParaRPr lang="en-US" alt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762374"/>
            <a:ext cx="9144000" cy="1793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Backend Module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Developed by: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Shanmukha Rao Sahukari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Tech Stack: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HTML, CSS, JavaScript, Node.js, Express.js, MySQL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Date: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14 December 2025</a:t>
            </a:r>
            <a:endParaRPr lang="en-US" altLang="en-US" sz="12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634543" y="1425526"/>
            <a:ext cx="8781245" cy="554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 Forge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– 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Milestone 2 Presentation</a:t>
            </a:r>
            <a:endParaRPr lang="en-US" altLang="en-US" sz="22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382332" y="5937161"/>
            <a:ext cx="9285668" cy="38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382332" y="1510902"/>
            <a:ext cx="9423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C9796F4-0A69-4EE6-58D1-842F5AED28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45" y="131468"/>
            <a:ext cx="4239305" cy="1221285"/>
          </a:xfrm>
          <a:prstGeom prst="rect">
            <a:avLst/>
          </a:prstGeom>
          <a:effectLst>
            <a:softEdge rad="266700"/>
          </a:effectLst>
        </p:spPr>
      </p:pic>
    </p:spTree>
    <p:extLst>
      <p:ext uri="{BB962C8B-B14F-4D97-AF65-F5344CB8AC3E}">
        <p14:creationId xmlns:p14="http://schemas.microsoft.com/office/powerpoint/2010/main" val="4071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3F7E-0275-EB8C-B747-CA31C463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BD7C72F3-4E97-B609-847F-68DA815681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FC0DEC-EC7D-DE03-E1F1-D392F372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4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69AB-9F36-EC43-3EB8-7A97A509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56" y="1364739"/>
            <a:ext cx="5410397" cy="4991611"/>
          </a:xfrm>
        </p:spPr>
        <p:txBody>
          <a:bodyPr>
            <a:normAutofit fontScale="85000" lnSpcReduction="20000"/>
          </a:bodyPr>
          <a:lstStyle/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Product Backlog (Sprint 1)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Sprint Backlog Summary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Milestone 2 Summary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Backend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Foundadtion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Backend Architecture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MYSQL Database Design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Authentication &amp; JWT Security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Role-Based Access Control (RBAC)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Postman Testing (Milestone 2)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B08DA7-748E-E55D-599F-58C60F25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69E883-4438-516B-4824-9B82695E9FB3}"/>
              </a:ext>
            </a:extLst>
          </p:cNvPr>
          <p:cNvCxnSpPr>
            <a:cxnSpLocks/>
          </p:cNvCxnSpPr>
          <p:nvPr/>
        </p:nvCxnSpPr>
        <p:spPr>
          <a:xfrm>
            <a:off x="1342663" y="1171574"/>
            <a:ext cx="9462712" cy="58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6C6848-FCFD-840A-0192-D9C0284D413F}"/>
              </a:ext>
            </a:extLst>
          </p:cNvPr>
          <p:cNvSpPr txBox="1">
            <a:spLocks/>
          </p:cNvSpPr>
          <p:nvPr/>
        </p:nvSpPr>
        <p:spPr>
          <a:xfrm>
            <a:off x="6285053" y="1489962"/>
            <a:ext cx="5410397" cy="4991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Protected Route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Register API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Login API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Login Page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Register Page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Landing Page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62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51C540D2-DABD-DA5F-2FEE-985510933E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4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8156"/>
            <a:ext cx="10875745" cy="499161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What is SkillForge?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SkillForge is a full-stack e-learning platform designed to provide a seamless learning experience with course browsing, user authentication, dashboards, and future AI-powered features.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Milestone 2 Focus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Authentication Module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Database Setup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UI (Login &amp; Registration)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API Development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Postman Testing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	✔ Documentation &amp; GitHub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C4216-609F-DC58-D4AD-0CBC26BB2995}"/>
              </a:ext>
            </a:extLst>
          </p:cNvPr>
          <p:cNvCxnSpPr>
            <a:cxnSpLocks/>
          </p:cNvCxnSpPr>
          <p:nvPr/>
        </p:nvCxnSpPr>
        <p:spPr>
          <a:xfrm>
            <a:off x="1390650" y="1229612"/>
            <a:ext cx="941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4735672-9054-A0F9-5B8D-2C3CB0881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25" y="245888"/>
            <a:ext cx="2676223" cy="7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0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C73A1C0A-4EED-F671-06A8-B308ABBC8A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Product Backlog (Sprint 1)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Key Backlog Items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User Registration Module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User Login Module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Password Encryption (</a:t>
            </a:r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</a:rPr>
              <a:t>bcrypt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JWT-based Authentication (Security)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Protected Route (/me)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Login Page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Register Page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Admin Page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API Testing (Postman)(Role-based APIs)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Documentation &amp; GitHub Commit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A91B93-DA3A-2D9B-DC39-0FA3A04472ED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8656B-B913-B010-64C8-65D9F57856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78750"/>
            <a:ext cx="3175980" cy="9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1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4B09-FEC7-F3DC-93E0-2D25138B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714C5B6D-C6D7-B82A-7C0E-B2A113DFA4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BD8C99-EF51-4BF6-B4A0-51C5EB5D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Sprint Backlog Summary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9A743-460C-1D7E-C525-C6F7375E2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Completed Sprint Tasks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Project folder structure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 &amp; table creation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Register API backend implementation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Login API backend implementation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 Middleware creation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UI design (Login &amp; Register)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Integration of frontend with backend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Postman testing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GitHub repository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Requirement &amp; backlog documentation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17BB0-A08F-C297-89A0-10B64E79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28917A-D1C8-8332-1323-E83A262EE2D6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719CE08-73A3-6CFE-EF00-B41DDA093E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4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3C8A-8307-DB89-0E3E-FCB62041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14E9-F03B-B23B-9698-267A91F35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9EC102D6-AE92-097F-B28D-B899E68369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8317FB9-C532-8232-A5B6-A9F48B920A2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Milestone 2 Summary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72939C-A0A2-B695-D066-F349EC45AF9A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is a role-based learning platform that enables: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Secure user authentication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Admin-controlled course management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Instructor-led course &amp; assignment creation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Scalable backend architecture for AI features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Focus of these milestones: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Backend foundation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Security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Role-based APIs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A540F83-C2F1-8775-CDE3-0CFC7B6F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6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E493DF-C1B5-9018-F2C2-C251911029ED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E28AB26-3218-A5E0-34F0-035E22015F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97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71BE-E252-9804-F00C-DD18B53E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4441993C-7F9A-333F-02DA-4520ABBF09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19EE8-5FA6-753E-A89F-F537281E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Architecture Diagram 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BDEE1-E39E-039C-688A-C3D3B58C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DC53C4-0388-851F-1DBA-00D63C39A3EB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AD2704-A51D-E74E-99A3-74F07A041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06" y="1781992"/>
            <a:ext cx="2900892" cy="435133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F2BEC6-9577-7815-27C6-A358146212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68" y="405227"/>
            <a:ext cx="2402744" cy="6921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03B317-CB6F-1156-F311-B567B0C6A3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705" y="1522924"/>
            <a:ext cx="3492670" cy="4570408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2708BDA3-3EDE-FCC4-1511-1216B9CF29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37708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65000"/>
              </a:srgbClr>
            </a:outerShdw>
            <a:softEdge rad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BE9B0D5-9678-90A4-4302-1EDEA956770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Milestone 2 Summary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6E1EE3-406A-3847-B897-ECFAEC36D49D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Milestone 2 Goal: Backend Foundation</a:t>
            </a:r>
          </a:p>
          <a:p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Setup Node.js + Express server</a:t>
            </a:r>
          </a:p>
          <a:p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Connect MySQL database</a:t>
            </a:r>
          </a:p>
          <a:p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Implement secure authentication</a:t>
            </a:r>
          </a:p>
          <a:p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Role-based authorization</a:t>
            </a:r>
          </a:p>
          <a:p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Test APIs using Postman</a:t>
            </a:r>
            <a:endParaRPr lang="en-IN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8CE38F01-33C1-2F00-BC28-8C05779C203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045EF9-4BF9-47DC-8719-C428B1527DDF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9BA2B9-39E2-6B38-772A-B4092B5D095E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7CA3B17-4D30-1D85-FC8D-DD995499160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9EEA9F-3CCF-2AA7-78B6-EA5C4D1394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54" y="2023866"/>
            <a:ext cx="5220252" cy="4668638"/>
          </a:xfrm>
          <a:prstGeom prst="rect">
            <a:avLst/>
          </a:prstGeom>
          <a:ln>
            <a:noFill/>
          </a:ln>
          <a:effectLst>
            <a:outerShdw blurRad="419100" dist="38100" dir="5400000" sx="101000" sy="101000" algn="t" rotWithShape="0">
              <a:prstClr val="black">
                <a:alpha val="25000"/>
              </a:prstClr>
            </a:outerShdw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359597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759E-79B4-8230-4225-6F63EEB5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C9F11E9-DD0A-2882-8E6A-8221BF0A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25CB888-EDEE-2E2C-18B1-9AE0AC16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4FE5E3C6-183E-45CE-7B8A-9EE0AED4A3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5E00D8-80E6-EB8C-68DB-BA0F1770632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Backend Architecture (Milestone 2)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B4F9771-2639-E4BB-3520-D2213382AF74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Server Architecture: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Express.js REST API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Modular route structure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Centralized DB access using: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“ app.</a:t>
            </a:r>
            <a:r>
              <a:rPr lang="en-IN" b="1" dirty="0">
                <a:solidFill>
                  <a:srgbClr val="C00000"/>
                </a:solidFill>
              </a:rPr>
              <a:t>set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en-IN" b="1" dirty="0">
                <a:solidFill>
                  <a:srgbClr val="00B050"/>
                </a:solidFill>
              </a:rPr>
              <a:t>"db"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en-IN" b="1" dirty="0">
                <a:solidFill>
                  <a:srgbClr val="00B050"/>
                </a:solidFill>
              </a:rPr>
              <a:t>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db) “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Middleware Used: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CORS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JSON body parser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 authentication middleware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2FEC030-8425-7E29-6E90-A29D643E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8</a:t>
            </a:fld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B686B1-B139-BD79-0E0D-A350B820F546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FD61E298-744B-75DD-0673-00D359D7F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5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8D4DFEC6-D589-2F8A-4905-F51D5FA24B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651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Database Design (Milestone 2)</a:t>
            </a:r>
            <a:endParaRPr lang="en-US" sz="36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EDB897-228F-E6BE-EE71-57DC99CE8F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774" y="1068483"/>
            <a:ext cx="6550926" cy="346833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F5EEB5-0FB2-CECE-D258-A031E244825C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4D77A8-D945-67D6-032A-5C2BE30237F9}"/>
              </a:ext>
            </a:extLst>
          </p:cNvPr>
          <p:cNvGraphicFramePr>
            <a:graphicFrameLocks noGrp="1"/>
          </p:cNvGraphicFramePr>
          <p:nvPr/>
        </p:nvGraphicFramePr>
        <p:xfrm>
          <a:off x="1181100" y="4610894"/>
          <a:ext cx="10515600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728717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75297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752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481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INT (PK, Auto Increment)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Unique user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9119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7887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 (Unique)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Login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072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Hashed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962156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B55B601-EFA0-46C8-CF45-0790FBCE86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135863"/>
            <a:ext cx="2391755" cy="689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46CDA-AD39-CF0E-9DBD-4935319D98F9}"/>
              </a:ext>
            </a:extLst>
          </p:cNvPr>
          <p:cNvSpPr txBox="1"/>
          <p:nvPr/>
        </p:nvSpPr>
        <p:spPr>
          <a:xfrm>
            <a:off x="707010" y="1300899"/>
            <a:ext cx="44387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Core Tables Created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id, name, email, password,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courses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id, title, description, instructor_id, category, level,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CE583-D625-DDA9-B376-C3DC1F474E1F}"/>
              </a:ext>
            </a:extLst>
          </p:cNvPr>
          <p:cNvSpPr txBox="1"/>
          <p:nvPr/>
        </p:nvSpPr>
        <p:spPr>
          <a:xfrm>
            <a:off x="707010" y="3077197"/>
            <a:ext cx="61698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Key Concepts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Role stored at DB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Foreign key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Scalable for future features</a:t>
            </a:r>
          </a:p>
        </p:txBody>
      </p:sp>
    </p:spTree>
    <p:extLst>
      <p:ext uri="{BB962C8B-B14F-4D97-AF65-F5344CB8AC3E}">
        <p14:creationId xmlns:p14="http://schemas.microsoft.com/office/powerpoint/2010/main" val="271007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5">
            <a:extLst>
              <a:ext uri="{FF2B5EF4-FFF2-40B4-BE49-F238E27FC236}">
                <a16:creationId xmlns:a16="http://schemas.microsoft.com/office/drawing/2014/main" id="{C47C59E5-613A-9939-47C5-AB370D01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FD7E3A8-99BC-D78D-7E8D-E81CB939B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42563CE2-BE65-CDB0-DAA3-C95F39413A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B w="0"/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E1C82E-D68B-7AE8-2AF1-DCE05603EFE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Authentication &amp; JWT Security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95BF98-08AB-E93E-E3AF-1ACD3B2B0916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JWT Authentication Flow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User logs in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Server verifies credentials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JWT token generated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Token sent to frontend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Token validated on each request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“ </a:t>
            </a:r>
            <a:r>
              <a:rPr lang="en-IN" sz="3200" b="1" dirty="0" err="1">
                <a:solidFill>
                  <a:schemeClr val="accent5">
                    <a:lumMod val="50000"/>
                  </a:schemeClr>
                </a:solidFill>
              </a:rPr>
              <a:t>jwt.</a:t>
            </a:r>
            <a:r>
              <a:rPr lang="en-IN" sz="3200" b="1" dirty="0" err="1">
                <a:solidFill>
                  <a:srgbClr val="C00000"/>
                </a:solidFill>
              </a:rPr>
              <a:t>sign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({ id, role }, </a:t>
            </a:r>
            <a:r>
              <a:rPr lang="en-IN" sz="3200" b="1" dirty="0" err="1">
                <a:solidFill>
                  <a:schemeClr val="accent5">
                    <a:lumMod val="50000"/>
                  </a:schemeClr>
                </a:solidFill>
              </a:rPr>
              <a:t>secretKey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) “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Stateless authentication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Secure route protection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C55C-1225-C6EF-F3B5-8680A8F7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10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73586C-35AD-615D-6B87-EAC129C624E1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57C9BA4-5293-3EA4-D5F3-8508785F9C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8EF856-AD23-19F4-8517-A68CCDF8B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585" y="1615155"/>
            <a:ext cx="4772277" cy="477227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softEdge rad="152400"/>
          </a:effectLst>
          <a:scene3d>
            <a:camera prst="orthographicFront"/>
            <a:lightRig rig="threePt" dir="t"/>
          </a:scene3d>
          <a:sp3d>
            <a:bevelT w="190500" h="190500" prst="convex"/>
            <a:bevelB w="0"/>
          </a:sp3d>
        </p:spPr>
      </p:pic>
    </p:spTree>
    <p:extLst>
      <p:ext uri="{BB962C8B-B14F-4D97-AF65-F5344CB8AC3E}">
        <p14:creationId xmlns:p14="http://schemas.microsoft.com/office/powerpoint/2010/main" val="371242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9E8C-F27C-9CD4-297F-128479CC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875C5-D4A0-213F-7BDF-E8F853107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71EA66EB-9280-B7B1-C12A-F19611E52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D90E077C-C8DB-0724-3128-AC1CF278179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B w="0"/>
          </a:sp3d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82E71B-7F8F-3C6F-5204-7E650991A8F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Role-Based Access Control (RBAC)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9CC00B-0E51-5F64-EF59-4A0E36F4660B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Access Control Rules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User logs in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Admin → Full access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Instructor → Course &amp; assignment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Student → Limited access (future scope)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“ </a:t>
            </a:r>
            <a:r>
              <a:rPr lang="en-IN" sz="3200" b="1" dirty="0">
                <a:solidFill>
                  <a:srgbClr val="002060"/>
                </a:solidFill>
              </a:rPr>
              <a:t>if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 (req.user.role !== </a:t>
            </a:r>
            <a:r>
              <a:rPr lang="en-IN" sz="3200" b="1" dirty="0">
                <a:solidFill>
                  <a:srgbClr val="00B050"/>
                </a:solidFill>
              </a:rPr>
              <a:t>"admin"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r>
              <a:rPr lang="en-IN" sz="3200" b="1" dirty="0">
                <a:solidFill>
                  <a:srgbClr val="00B050"/>
                </a:solidFill>
              </a:rPr>
              <a:t> 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return </a:t>
            </a:r>
            <a:r>
              <a:rPr lang="en-IN" sz="3200" b="1" dirty="0">
                <a:solidFill>
                  <a:srgbClr val="C00000"/>
                </a:solidFill>
              </a:rPr>
              <a:t>403</a:t>
            </a: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; “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Prevents unauthorized actions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Enforced on backend level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4D9A5B66-7D26-8D36-0DF5-39B97705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11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E243F3-86FA-3805-FA3A-6F805D7731D8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33ADD89-AB69-13B2-F30F-1AEF386741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50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8A9C39-3FF1-C036-718F-BAA040B3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74D8C87-EF4C-0D5A-2E6D-8AA3987B3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6" name="Content Placeholder 13">
            <a:extLst>
              <a:ext uri="{FF2B5EF4-FFF2-40B4-BE49-F238E27FC236}">
                <a16:creationId xmlns:a16="http://schemas.microsoft.com/office/drawing/2014/main" id="{8ED29C6C-42D0-CC6C-D22B-75A39EBD1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BD99523D-2E86-A91E-4F78-43BEE9CE19C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27" y="18854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B w="0"/>
          </a:sp3d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5B953E0-6E2E-7C97-AA6B-90FC74E3686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2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Postman Testing (Milestone 2)</a:t>
            </a:r>
            <a:endParaRPr lang="en-US" sz="3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ED64F0-D358-EA7F-0638-85CDA00B6B36}"/>
              </a:ext>
            </a:extLst>
          </p:cNvPr>
          <p:cNvSpPr txBox="1">
            <a:spLocks/>
          </p:cNvSpPr>
          <p:nvPr/>
        </p:nvSpPr>
        <p:spPr>
          <a:xfrm>
            <a:off x="941231" y="1350962"/>
            <a:ext cx="10515600" cy="50053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Why Postman Was Used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Test authentication APIs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Verify JWT tokens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Validate role restrictions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Debug SQL &amp; logic errors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</a:rPr>
              <a:t>APIs Tested: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 /register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 /login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/me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📌 Postman used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only for development &amp; testing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5A87EC68-E6CD-8287-1DC5-B5A2C8E4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4045EF9-4BF9-47DC-8719-C428B1527DDF}" type="slidenum">
              <a:rPr lang="en-US" smtClean="0"/>
              <a:t>12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F328A9-57B9-565B-0CDF-8DAD8A5B7607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D9C4AA7-AEAE-BF3C-90A8-67D272457B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4234D2-2A8D-6D87-8420-3DA3B9C62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44" y="1422777"/>
            <a:ext cx="4065085" cy="406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22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477D-DB89-A294-597F-35D41E9B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ED080B49-E471-604B-8192-6A93E7C494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AB897E-55EF-165C-F830-B007B3A6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Register API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87B9-AE1E-2A4B-B3E9-3FB5B588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DA24D-A566-6E34-725B-F124DF0CC462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Register API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Endpoint: POST /register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Purpose: Create new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Tested with valid and invalid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Stored in MySQL successfully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3CE4A3-9872-0ED4-E8D3-9243DB551D5E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CBDD6-28E9-81E1-A15F-7128967B61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313B9C-B092-D3FF-4BCB-98DAA1F55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90" y="1394706"/>
            <a:ext cx="6851619" cy="4286565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644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F9C4-44F7-38CC-B048-961639E2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C41C3B93-E3F8-4157-3A7B-F97962809A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EF256-C5C7-F05A-D954-A9EC1ADD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Login API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DDFC-C666-F7F8-45E9-C11D2658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DDEC6-DFBA-FE11-8C65-97B4EA5918B0}"/>
              </a:ext>
            </a:extLst>
          </p:cNvPr>
          <p:cNvSpPr txBox="1"/>
          <p:nvPr/>
        </p:nvSpPr>
        <p:spPr>
          <a:xfrm>
            <a:off x="197522" y="197511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Login API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Endpoint: POST /login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Verifies email &amp;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Returns JWT token + user info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Error handled: User not found, wrong password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36DA02-F1B2-66D8-4EE5-E562EDCEB7F1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FAE9798-3448-23E2-3EE9-000A38343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F5AB07-687F-48C0-9381-738352758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062" y="1371179"/>
            <a:ext cx="6578416" cy="4115642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90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D563-F389-C078-E3F8-27109282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61B0353-E7D9-3F90-1083-4EAF6CD15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2EF7D1-7512-A946-A651-63E3DB3C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Protected Route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5149B-EE87-9393-ADF2-49D3C0E7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601F5-1553-522C-A2FD-104948BBF3BD}"/>
              </a:ext>
            </a:extLst>
          </p:cNvPr>
          <p:cNvSpPr txBox="1"/>
          <p:nvPr/>
        </p:nvSpPr>
        <p:spPr>
          <a:xfrm>
            <a:off x="197522" y="197511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Protected Route: /me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Requires Authorization: Bearer &lt;token&gt;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Returns authenticated user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Ensures JWT security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CBD958-7190-FC20-87B8-18CDF29BC582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F861F-92FF-A580-0A55-3AA54AA9C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0E73B1-C4CC-7ABD-DF41-AE8BFBBACB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454" y="1471246"/>
            <a:ext cx="6241320" cy="3915508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effectLst>
            <a:outerShdw blurRad="50800" dist="38100" dir="5400000" sx="101000" sy="101000" algn="t" rotWithShape="0">
              <a:prstClr val="black"/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284534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169A-C0C2-E317-E4A6-F3F3E432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2">
            <a:extLst>
              <a:ext uri="{FF2B5EF4-FFF2-40B4-BE49-F238E27FC236}">
                <a16:creationId xmlns:a16="http://schemas.microsoft.com/office/drawing/2014/main" id="{D37F6A7C-0323-E595-EC56-747E5471E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61D2C5-BBCC-E426-2671-515EE676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(Login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DF828-B676-9413-9698-0E2DF18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E63B3-F879-F324-10A5-C1A69076A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08" y="1160585"/>
            <a:ext cx="4865992" cy="486599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439EBE-7579-0F46-7F93-8DB8DCC9001E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Login Page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Clean 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Email and password input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Error handling for invalid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Integrated with backend login API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3F6AA8-2473-E8CA-0907-30C4C9112B6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856022-3B93-1FB2-15A1-8721AEC912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7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A12D-6DC0-4D95-09AC-0291485D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C5F8962F-AA04-8273-A564-14ECA343EE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424D2-85CD-9051-0A5A-C406B400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(Register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C4D6-347C-238C-F201-D13F49D0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F1CE2-0619-209A-B358-8337CE5E034E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Register Page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Name, email, password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Input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Connected to backend register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Auto-redirect after successful signup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3145C2-9BF4-9C89-7085-752F85C47CBB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0BAA9-21B0-B1CC-F837-0B33B1CD53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A138BF-D236-4A8A-A62F-BC48D704AB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864" y="1574887"/>
            <a:ext cx="6279363" cy="418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55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5EE8-11F2-50D5-1A93-60D4B6E6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CB5830AD-38A7-5ABA-DE98-F25C9FB65E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585DE7-1021-7211-4CC0-12AE5F24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Landing Page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C6EB-855C-875C-9A43-90492F3B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B0966-BFC4-78F7-51E4-33E2FB3B8DA4}"/>
              </a:ext>
            </a:extLst>
          </p:cNvPr>
          <p:cNvSpPr txBox="1"/>
          <p:nvPr/>
        </p:nvSpPr>
        <p:spPr>
          <a:xfrm>
            <a:off x="359567" y="2090172"/>
            <a:ext cx="5983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What the Landing Page Represents: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The landing page is the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first point of interaction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for users on the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learning platform.</a:t>
            </a:r>
            <a:br>
              <a:rPr lang="en-US" sz="24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It communicates the platform’s purpose, key features, and encourages users to sign up or log in.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657EED-A4F9-615F-8F8D-AA4B075B8EF3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AB915A5-090C-39EE-FEBB-A5A4034EA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E2184-DB42-5621-6F58-2D5CA53EE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97" y="1349431"/>
            <a:ext cx="4590997" cy="45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92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1AA9-C3AA-1354-1FBF-F53D73CA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23278A4-E05A-9185-673E-EEB531B89A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8480F-9FFA-3A14-575D-6233BFD5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09D1-F77A-A283-D734-79792999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37F95-79CC-52F5-D821-6B7AB8404087}"/>
              </a:ext>
            </a:extLst>
          </p:cNvPr>
          <p:cNvSpPr txBox="1"/>
          <p:nvPr/>
        </p:nvSpPr>
        <p:spPr>
          <a:xfrm>
            <a:off x="502601" y="1951670"/>
            <a:ext cx="63319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✔ Milestone 2 Completed Successfully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Authentication module fully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Backend tested using Postman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Frontend integrated with backend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Project structured and documented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Ready for Milestone 3 (Dashboard, Courses Module, etc.)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8BBC32-7EF6-7A4A-D94D-B4CB1320F3B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40CBAA2-8F75-6E2C-BC1F-E97745C70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E4BBA0-F495-EE5B-D69D-5C70BB2088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993" y="1497624"/>
            <a:ext cx="4097213" cy="40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72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22A25E9B-9669-1997-49A9-1FF2A7CE63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819" y="2791326"/>
            <a:ext cx="10515600" cy="1046511"/>
          </a:xfrm>
        </p:spPr>
        <p:txBody>
          <a:bodyPr>
            <a:no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3F47F3-F6E5-D2F3-F705-E09101E07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83" y="117453"/>
            <a:ext cx="2602513" cy="7497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EF0BDB-ACCB-012A-9BE5-35D198E00C70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36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867</Words>
  <Application>Microsoft Office PowerPoint</Application>
  <PresentationFormat>Widescreen</PresentationFormat>
  <Paragraphs>202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  PRESENTED BY  Shanmukha Rao Sahukari                    </vt:lpstr>
      <vt:lpstr>TABLE OF CONTENTS</vt:lpstr>
      <vt:lpstr>Project Overview</vt:lpstr>
      <vt:lpstr>Product Backlog (Sprint 1)</vt:lpstr>
      <vt:lpstr>Sprint Backlog Summary</vt:lpstr>
      <vt:lpstr>PowerPoint Presentation</vt:lpstr>
      <vt:lpstr>Architecture Diagram </vt:lpstr>
      <vt:lpstr>PowerPoint Presentation</vt:lpstr>
      <vt:lpstr>Database Design (Milestone 2)</vt:lpstr>
      <vt:lpstr>PowerPoint Presentation</vt:lpstr>
      <vt:lpstr>PowerPoint Presentation</vt:lpstr>
      <vt:lpstr>PowerPoint Presentation</vt:lpstr>
      <vt:lpstr>Postman Testing: Register API</vt:lpstr>
      <vt:lpstr>Postman Testing: Login API</vt:lpstr>
      <vt:lpstr>Postman Testing: Protected Route</vt:lpstr>
      <vt:lpstr>(Login Page)</vt:lpstr>
      <vt:lpstr>(Register Page)</vt:lpstr>
      <vt:lpstr>Landing Page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Sahukari</dc:creator>
  <cp:lastModifiedBy>Shanmukh Sahukari</cp:lastModifiedBy>
  <cp:revision>1</cp:revision>
  <dcterms:created xsi:type="dcterms:W3CDTF">2025-12-15T10:01:24Z</dcterms:created>
  <dcterms:modified xsi:type="dcterms:W3CDTF">2025-12-15T12:45:08Z</dcterms:modified>
</cp:coreProperties>
</file>
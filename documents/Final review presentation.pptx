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271" r:id="rId3"/>
    <p:sldId id="272" r:id="rId4"/>
    <p:sldId id="258" r:id="rId5"/>
    <p:sldId id="296" r:id="rId6"/>
    <p:sldId id="289" r:id="rId7"/>
    <p:sldId id="262" r:id="rId8"/>
    <p:sldId id="297" r:id="rId9"/>
    <p:sldId id="298" r:id="rId10"/>
    <p:sldId id="299" r:id="rId11"/>
    <p:sldId id="291" r:id="rId12"/>
    <p:sldId id="292" r:id="rId13"/>
    <p:sldId id="293" r:id="rId14"/>
    <p:sldId id="290" r:id="rId15"/>
    <p:sldId id="285" r:id="rId16"/>
    <p:sldId id="295" r:id="rId17"/>
    <p:sldId id="300" r:id="rId18"/>
    <p:sldId id="301" r:id="rId19"/>
    <p:sldId id="302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294" r:id="rId28"/>
    <p:sldId id="26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A3156-6105-40C3-95D3-03E84B9D83B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D5712-572D-4876-BAB6-54AB93BE76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073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38C45-65F8-4777-9D83-764A4B48907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35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38C45-65F8-4777-9D83-764A4B4890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37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3342D-A898-D618-A08A-5510AC8E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6CF209-4A55-2066-3F08-517988EEB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50413-E94C-2B14-FCB4-2CEDA6C01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903B3-1C05-C422-26C7-FB3363FF74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38C45-65F8-4777-9D83-764A4B4890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39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0C3C6-39E8-617E-16A4-F7D6703A6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59241-EBA2-DD9C-BBC8-CF51E1C70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F1CCF-7B13-D807-71C3-72FB46E2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B1A7-6B62-3116-7312-E4F2A6260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B0B4F-2151-5687-039A-55E4B24DD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432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E4E2-A85C-8BCF-451C-01E126B02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C7A36-6E1F-E092-F13E-10FE4DCD9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07504-F7B3-3595-56FF-60C15D814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E9AE0-5838-9427-3183-EFB7DD32D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B62B3-400D-1390-2A3F-DA629B1AD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125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DFB7D-A531-D937-1774-C0C31E465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0C479-2513-7B1D-0D8B-F55D47ACC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E4E77-2BC2-600A-AB33-6B5626EAE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A8361-83DA-650B-9C5C-D14B18A8A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7E105-8AEC-BAB9-A581-4D7CAB95B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91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3A2F5-13E9-6B04-A74B-8EA2F833C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35627-CAEA-A8B8-6D00-FBFA2BAC3A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2CF0D0-A541-5C1F-A268-FFD003AF9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D741F-5C92-831F-51BB-04CCC0A5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63A05-E450-EE71-1659-C75C4114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D8582-F256-D83E-01E9-34F4567DC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458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23B39-25F8-17A4-0F99-AFF30E8D6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2D459-88D6-17A4-19D0-FA23C2A36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DF37B-26EA-59DD-2170-F79085BA1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437B7E-09FC-D1AB-4789-E3ED607CD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96EBA2-82CE-2D83-CF37-B34449F87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D229D3-0162-C743-D3DB-F3BE21E0D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EDDBA-29DC-4DE5-F4E7-152D8B6D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4E0A3A-1E77-C361-81D2-DF82D86F3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120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3FF10-B2F0-6AEE-16F5-808DB83C6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FD0B49-B859-CFDB-DA43-801F701A4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77A9F7-0FBF-F14D-8316-AF0F85B4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CDF8E6-5F94-9CA0-F9AC-04DD3669E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39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33EF26-1925-B090-DCED-EF6A6AC7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98EC8-4204-3CB4-789B-23B0EDAD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A7566-1A1F-A1BA-914F-E181204FE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279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D19FB-E7B0-D6D6-32A2-70127901B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044EB-A51E-00F4-81E8-DF72E244C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0325C0-31D9-5DBB-D4FF-231AD136C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23593-0BFD-57DD-65EE-6767D53EE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5E378-2534-492A-0CB3-914B011EA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17B76-B8CB-4F01-BA0E-789849A93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46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CCF1-4634-F1F8-7012-32241D387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B840E2-2717-1FB7-570B-606801024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865F9-FE50-294E-AD54-A19957FC6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B4AAF-0A3C-96A9-A075-87AC92B5F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65008-B45D-740A-633D-F3EDFA874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47FC6-0D74-0AF3-252B-FB60468FA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449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948CC-F8EB-970A-3D7D-B38BCDB8D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2F437C-F62E-363E-1199-B45F1A4D3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8ECA6-F4AD-F7B6-0BD7-1FE7D8A35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16AF9-210D-8E33-3D55-DEE8C0BC3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038BA-6B5B-DB7A-7609-3210A1F6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117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143CCF-AA0B-5CA1-F22F-A608E310ED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04440-F83B-30E0-AADE-A1A31AA3B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4097F-526A-8480-07F1-29E78C945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C345-5667-6C1E-8A72-0C3F81D32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CB914-24EE-3E50-9814-49A58F149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114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BEE200-D1BC-F5E2-EBA5-824800628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5D090-E545-8CE0-7648-2302480FB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4DB9A-08EC-CDEA-348A-AE0E7AF9CD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697A7-5577-4E96-8C01-D927038ABAB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65314-5034-386B-96EF-A840F69A9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DE313-C2BB-9211-A29A-93900856E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062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2">
            <a:extLst>
              <a:ext uri="{FF2B5EF4-FFF2-40B4-BE49-F238E27FC236}">
                <a16:creationId xmlns:a16="http://schemas.microsoft.com/office/drawing/2014/main" id="{D566566A-9619-3354-9F50-6134610A348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7" name="Subtitle 2"/>
          <p:cNvSpPr>
            <a:spLocks noGrp="1"/>
          </p:cNvSpPr>
          <p:nvPr>
            <p:ph type="ctrTitle"/>
          </p:nvPr>
        </p:nvSpPr>
        <p:spPr>
          <a:xfrm>
            <a:off x="1382332" y="1229611"/>
            <a:ext cx="9144000" cy="2459990"/>
          </a:xfrm>
        </p:spPr>
        <p:txBody>
          <a:bodyPr/>
          <a:lstStyle/>
          <a:p>
            <a:pPr eaLnBrk="1" hangingPunct="1"/>
            <a:br>
              <a:rPr lang="en-US" altLang="en-US" sz="1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altLang="en-US" sz="1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PRESENTED BY</a:t>
            </a:r>
          </a:p>
          <a:p>
            <a:pPr algn="l" eaLnBrk="1" hangingPunct="1"/>
            <a:endParaRPr lang="en-US" altLang="en-US" sz="1600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en-US" sz="3600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Shanmukha Rao Sahukari                   </a:t>
            </a:r>
            <a:br>
              <a:rPr lang="en-US" altLang="en-US" sz="1600" dirty="0">
                <a:latin typeface="Times New Roman" pitchFamily="18" charset="0"/>
                <a:cs typeface="Times New Roman" pitchFamily="18" charset="0"/>
              </a:rPr>
            </a:br>
            <a:endParaRPr lang="en-US" alt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ubtitle 2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762374"/>
            <a:ext cx="9144000" cy="1793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algn="l">
              <a:spcBef>
                <a:spcPct val="2000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Final Module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Developed by: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 Shanmukha Rao Sahukari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Tech Stack: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 HTML, CSS, JavaScript, MERN / Node.js , Express.js, MySQL, AI (</a:t>
            </a:r>
            <a:r>
              <a:rPr lang="en-IN" dirty="0" err="1">
                <a:solidFill>
                  <a:schemeClr val="accent5">
                    <a:lumMod val="50000"/>
                  </a:schemeClr>
                </a:solidFill>
              </a:rPr>
              <a:t>Groq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  LLMs)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Date: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 14 December 2025</a:t>
            </a:r>
            <a:endParaRPr lang="en-US" altLang="en-US" sz="1200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</a:t>
            </a:fld>
            <a:endParaRPr lang="en-US" dirty="0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634543" y="1425526"/>
            <a:ext cx="8781245" cy="5545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Skill Forge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 – </a:t>
            </a: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Final Presentation</a:t>
            </a:r>
            <a:endParaRPr lang="en-US" altLang="en-US" sz="2200" b="1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382332" y="5937161"/>
            <a:ext cx="9285668" cy="38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1382332" y="1510902"/>
            <a:ext cx="94230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C9796F4-0A69-4EE6-58D1-842F5AED28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845" y="131468"/>
            <a:ext cx="4239305" cy="1221285"/>
          </a:xfrm>
          <a:prstGeom prst="rect">
            <a:avLst/>
          </a:prstGeom>
          <a:effectLst>
            <a:softEdge rad="266700"/>
          </a:effectLst>
        </p:spPr>
      </p:pic>
    </p:spTree>
    <p:extLst>
      <p:ext uri="{BB962C8B-B14F-4D97-AF65-F5344CB8AC3E}">
        <p14:creationId xmlns:p14="http://schemas.microsoft.com/office/powerpoint/2010/main" val="40717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13F7E-0275-EB8C-B747-CA31C4634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BD7C72F3-4E97-B609-847F-68DA8156819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FC0DEC-EC7D-DE03-E1F1-D392F3726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644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569AB-9F36-EC43-3EB8-7A97A5090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56" y="1364739"/>
            <a:ext cx="5410397" cy="4991611"/>
          </a:xfrm>
        </p:spPr>
        <p:txBody>
          <a:bodyPr>
            <a:normAutofit fontScale="85000" lnSpcReduction="10000"/>
          </a:bodyPr>
          <a:lstStyle/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Project Overview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Product Backlog (Sprint 1)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Sprint Backlog Summary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Backend </a:t>
            </a:r>
            <a:r>
              <a:rPr lang="en-IN" b="1" dirty="0" err="1">
                <a:solidFill>
                  <a:schemeClr val="accent5">
                    <a:lumMod val="50000"/>
                  </a:schemeClr>
                </a:solidFill>
              </a:rPr>
              <a:t>Foundadtion</a:t>
            </a:r>
            <a:endParaRPr lang="en-IN" b="1" dirty="0">
              <a:solidFill>
                <a:schemeClr val="accent5">
                  <a:lumMod val="50000"/>
                </a:schemeClr>
              </a:solidFill>
            </a:endParaRP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Backend Architecture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MYSQL Database Design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Authentication &amp; JWT Security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Role-Based Access Control (RBAC)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Postman Testing (Milestone 2)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B08DA7-748E-E55D-599F-58C60F25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69E883-4438-516B-4824-9B82695E9FB3}"/>
              </a:ext>
            </a:extLst>
          </p:cNvPr>
          <p:cNvCxnSpPr>
            <a:cxnSpLocks/>
          </p:cNvCxnSpPr>
          <p:nvPr/>
        </p:nvCxnSpPr>
        <p:spPr>
          <a:xfrm>
            <a:off x="1342663" y="1171574"/>
            <a:ext cx="9462712" cy="580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6C6848-FCFD-840A-0192-D9C0284D413F}"/>
              </a:ext>
            </a:extLst>
          </p:cNvPr>
          <p:cNvSpPr txBox="1">
            <a:spLocks/>
          </p:cNvSpPr>
          <p:nvPr/>
        </p:nvSpPr>
        <p:spPr>
          <a:xfrm>
            <a:off x="6285053" y="1489962"/>
            <a:ext cx="5410397" cy="4991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Postman Testing: Protected Route</a:t>
            </a:r>
          </a:p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Postman Testing: Register API</a:t>
            </a:r>
          </a:p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Postman Testing: Login API</a:t>
            </a:r>
          </a:p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Login Page</a:t>
            </a:r>
          </a:p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Register Page</a:t>
            </a:r>
          </a:p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Landing Page</a:t>
            </a:r>
          </a:p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Conclusion</a:t>
            </a:r>
          </a:p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629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">
            <a:extLst>
              <a:ext uri="{FF2B5EF4-FFF2-40B4-BE49-F238E27FC236}">
                <a16:creationId xmlns:a16="http://schemas.microsoft.com/office/drawing/2014/main" id="{51C540D2-DABD-DA5F-2FEE-985510933ED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6449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Project Overview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8156"/>
            <a:ext cx="10875745" cy="4991611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What is SkillForge?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SkillForge is a full-stack e-learning platform designed to provide a seamless learning experience with course browsing, user authentication, dashboards, and future AI-powered features.</a:t>
            </a:r>
          </a:p>
          <a:p>
            <a:r>
              <a:rPr lang="en-IN" dirty="0" err="1">
                <a:solidFill>
                  <a:schemeClr val="accent5">
                    <a:lumMod val="50000"/>
                  </a:schemeClr>
                </a:solidFill>
              </a:rPr>
              <a:t>SkillForge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 Solves These Problems By: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	✔ Authentication Module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	✔ Database Setup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	✔ UI’s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	✔ API Development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	✔ Postman Testing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	✔AI-generated quizzes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	✔ Automated assignment evaluation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	✔ Personalized feedback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	✔ Student &amp; instructor analytics dashboards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	✔ AI chatbot for instant support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AC4216-609F-DC58-D4AD-0CBC26BB2995}"/>
              </a:ext>
            </a:extLst>
          </p:cNvPr>
          <p:cNvCxnSpPr>
            <a:cxnSpLocks/>
          </p:cNvCxnSpPr>
          <p:nvPr/>
        </p:nvCxnSpPr>
        <p:spPr>
          <a:xfrm>
            <a:off x="1390650" y="1229612"/>
            <a:ext cx="94147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4735672-9054-A0F9-5B8D-2C3CB08818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25" y="245888"/>
            <a:ext cx="2676223" cy="77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502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">
            <a:extLst>
              <a:ext uri="{FF2B5EF4-FFF2-40B4-BE49-F238E27FC236}">
                <a16:creationId xmlns:a16="http://schemas.microsoft.com/office/drawing/2014/main" id="{C73A1C0A-4EED-F671-06A8-B308ABBC8A3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Product Backlog (Sprint 1)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1231" y="1350962"/>
            <a:ext cx="10515600" cy="5005387"/>
          </a:xfrm>
        </p:spPr>
        <p:txBody>
          <a:bodyPr>
            <a:normAutofit fontScale="85000" lnSpcReduction="20000"/>
          </a:bodyPr>
          <a:lstStyle/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Completed Sprint Tasks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User Registration Module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User Login Module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Password Encryption (</a:t>
            </a:r>
            <a:r>
              <a:rPr lang="en-IN" sz="2400" dirty="0" err="1">
                <a:solidFill>
                  <a:schemeClr val="accent5">
                    <a:lumMod val="50000"/>
                  </a:schemeClr>
                </a:solidFill>
              </a:rPr>
              <a:t>bcrypt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)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JWT-based Authentication (Security)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Secure Login &amp; Role-based Access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Student Dashboard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Instructor Dashboard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MySQL Database Setup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API Testing (Postman)(Role-based APIs)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AI Quiz Generation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AI Assignment Evaluation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Performance Analytics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AI Chatbot (Landing Page)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4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A91B93-DA3A-2D9B-DC39-0FA3A04472ED}"/>
              </a:ext>
            </a:extLst>
          </p:cNvPr>
          <p:cNvCxnSpPr>
            <a:cxnSpLocks/>
          </p:cNvCxnSpPr>
          <p:nvPr/>
        </p:nvCxnSpPr>
        <p:spPr>
          <a:xfrm>
            <a:off x="1400175" y="1229612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7D8656B-B913-B010-64C8-65D9F57856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" y="278750"/>
            <a:ext cx="3175980" cy="91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14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13C8A-8307-DB89-0E3E-FCB620410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14E9-F03B-B23B-9698-267A91F35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9EC102D6-AE92-097F-B28D-B899E683699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7" y="18854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8317FB9-C532-8232-A5B6-A9F48B920A28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926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Summary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672939C-A0A2-B695-D066-F349EC45AF9A}"/>
              </a:ext>
            </a:extLst>
          </p:cNvPr>
          <p:cNvSpPr txBox="1">
            <a:spLocks/>
          </p:cNvSpPr>
          <p:nvPr/>
        </p:nvSpPr>
        <p:spPr>
          <a:xfrm>
            <a:off x="941231" y="1350962"/>
            <a:ext cx="10515600" cy="500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SkillForge</a:t>
            </a:r>
            <a:r>
              <a:rPr lang="en-IN" sz="32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is a role-based learning platform that enables:</a:t>
            </a:r>
            <a:endParaRPr lang="en-IN" sz="24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Secure user authentication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Admin-controlled course management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Instructor-led course &amp; assignment creation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Scalable backend architecture for AI features</a:t>
            </a:r>
          </a:p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Focus of these milestones: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Backend foundation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Security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Role-based APIs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AA540F83-C2F1-8775-CDE3-0CFC7B6F9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4045EF9-4BF9-47DC-8719-C428B1527DDF}" type="slidenum">
              <a:rPr lang="en-US" smtClean="0"/>
              <a:t>5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E493DF-C1B5-9018-F2C2-C251911029ED}"/>
              </a:ext>
            </a:extLst>
          </p:cNvPr>
          <p:cNvCxnSpPr>
            <a:cxnSpLocks/>
          </p:cNvCxnSpPr>
          <p:nvPr/>
        </p:nvCxnSpPr>
        <p:spPr>
          <a:xfrm>
            <a:off x="1400175" y="1229612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E28AB26-3218-A5E0-34F0-035E22015F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03" y="323218"/>
            <a:ext cx="2809875" cy="80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97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9759E-79B4-8230-4225-6F63EEB51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C9F11E9-DD0A-2882-8E6A-8221BF0A5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25CB888-EDEE-2E2C-18B1-9AE0AC16B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1" name="object 2">
            <a:extLst>
              <a:ext uri="{FF2B5EF4-FFF2-40B4-BE49-F238E27FC236}">
                <a16:creationId xmlns:a16="http://schemas.microsoft.com/office/drawing/2014/main" id="{4FE5E3C6-183E-45CE-7B8A-9EE0AED4A32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7" y="18854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895E00D8-80E6-EB8C-68DB-BA0F17706329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926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Backend Architecture</a:t>
            </a:r>
            <a:endParaRPr lang="en-US" sz="3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B4F9771-2639-E4BB-3520-D2213382AF74}"/>
              </a:ext>
            </a:extLst>
          </p:cNvPr>
          <p:cNvSpPr txBox="1">
            <a:spLocks/>
          </p:cNvSpPr>
          <p:nvPr/>
        </p:nvSpPr>
        <p:spPr>
          <a:xfrm>
            <a:off x="941231" y="1350962"/>
            <a:ext cx="10515600" cy="500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Server Architecture: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Express.js REST API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MySQL database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Modular route structure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Centralized DB access using: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“ app.</a:t>
            </a:r>
            <a:r>
              <a:rPr lang="en-IN" b="1" dirty="0">
                <a:solidFill>
                  <a:srgbClr val="C00000"/>
                </a:solidFill>
              </a:rPr>
              <a:t>set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en-IN" b="1" dirty="0">
                <a:solidFill>
                  <a:srgbClr val="00B050"/>
                </a:solidFill>
              </a:rPr>
              <a:t>"db"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,</a:t>
            </a:r>
            <a:r>
              <a:rPr lang="en-IN" b="1" dirty="0">
                <a:solidFill>
                  <a:srgbClr val="00B050"/>
                </a:solidFill>
              </a:rPr>
              <a:t> 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db) “</a:t>
            </a:r>
          </a:p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Middleware Used: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CORS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JSON body parser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JWT authentication middleware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2FEC030-8425-7E29-6E90-A29D643E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4045EF9-4BF9-47DC-8719-C428B1527DDF}" type="slidenum">
              <a:rPr lang="en-US" smtClean="0"/>
              <a:t>6</a:t>
            </a:fld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AB686B1-B139-BD79-0E0D-A350B820F546}"/>
              </a:ext>
            </a:extLst>
          </p:cNvPr>
          <p:cNvCxnSpPr>
            <a:cxnSpLocks/>
          </p:cNvCxnSpPr>
          <p:nvPr/>
        </p:nvCxnSpPr>
        <p:spPr>
          <a:xfrm>
            <a:off x="1400175" y="1229612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FD61E298-744B-75DD-0673-00D359D7F9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03" y="323218"/>
            <a:ext cx="2809875" cy="80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657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">
            <a:extLst>
              <a:ext uri="{FF2B5EF4-FFF2-40B4-BE49-F238E27FC236}">
                <a16:creationId xmlns:a16="http://schemas.microsoft.com/office/drawing/2014/main" id="{8D4DFEC6-D589-2F8A-4905-F51D5FA24BF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6511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5">
                    <a:lumMod val="50000"/>
                  </a:schemeClr>
                </a:solidFill>
              </a:rPr>
              <a:t>Database Design</a:t>
            </a:r>
            <a:endParaRPr lang="en-US" sz="36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EDB897-228F-E6BE-EE71-57DC99CE8F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774" y="1068483"/>
            <a:ext cx="6550926" cy="346833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F5EEB5-0FB2-CECE-D258-A031E244825C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E4D77A8-D945-67D6-032A-5C2BE30237F9}"/>
              </a:ext>
            </a:extLst>
          </p:cNvPr>
          <p:cNvGraphicFramePr>
            <a:graphicFrameLocks noGrp="1"/>
          </p:cNvGraphicFramePr>
          <p:nvPr/>
        </p:nvGraphicFramePr>
        <p:xfrm>
          <a:off x="1181100" y="4610894"/>
          <a:ext cx="10515600" cy="1828800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5728717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75297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67524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44810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INT (PK, Auto Increment)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Unique user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91196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VARCHAR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Username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78876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VARCHAR (Unique)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Login 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00726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VARCHAR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Hashed 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3962156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7B55B601-EFA0-46C8-CF45-0790FBCE86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135863"/>
            <a:ext cx="2391755" cy="6890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E46CDA-AD39-CF0E-9DBD-4935319D98F9}"/>
              </a:ext>
            </a:extLst>
          </p:cNvPr>
          <p:cNvSpPr txBox="1"/>
          <p:nvPr/>
        </p:nvSpPr>
        <p:spPr>
          <a:xfrm>
            <a:off x="707010" y="1300899"/>
            <a:ext cx="44387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Core Tables Created</a:t>
            </a:r>
            <a:endParaRPr lang="en-IN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users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id, name, email, password, role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courses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id, title, description, instructor_id, category, level,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DCE583-D625-DDA9-B376-C3DC1F474E1F}"/>
              </a:ext>
            </a:extLst>
          </p:cNvPr>
          <p:cNvSpPr txBox="1"/>
          <p:nvPr/>
        </p:nvSpPr>
        <p:spPr>
          <a:xfrm>
            <a:off x="707010" y="3077197"/>
            <a:ext cx="61698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Key Concepts</a:t>
            </a:r>
            <a:endParaRPr lang="en-IN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 Role stored at DB level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 Foreign key relationships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 Scalable for future features</a:t>
            </a:r>
          </a:p>
        </p:txBody>
      </p:sp>
    </p:spTree>
    <p:extLst>
      <p:ext uri="{BB962C8B-B14F-4D97-AF65-F5344CB8AC3E}">
        <p14:creationId xmlns:p14="http://schemas.microsoft.com/office/powerpoint/2010/main" val="2710071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5">
            <a:extLst>
              <a:ext uri="{FF2B5EF4-FFF2-40B4-BE49-F238E27FC236}">
                <a16:creationId xmlns:a16="http://schemas.microsoft.com/office/drawing/2014/main" id="{C47C59E5-613A-9939-47C5-AB370D012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IN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0FD7E3A8-99BC-D78D-7E8D-E81CB939B3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pic>
        <p:nvPicPr>
          <p:cNvPr id="6" name="object 2">
            <a:extLst>
              <a:ext uri="{FF2B5EF4-FFF2-40B4-BE49-F238E27FC236}">
                <a16:creationId xmlns:a16="http://schemas.microsoft.com/office/drawing/2014/main" id="{42563CE2-BE65-CDB0-DAA3-C95F39413A0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7" y="18854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  <a:scene3d>
            <a:camera prst="orthographicFront"/>
            <a:lightRig rig="threePt" dir="t"/>
          </a:scene3d>
          <a:sp3d>
            <a:bevelB w="0"/>
          </a:sp3d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FE1C82E-D68B-7AE8-2AF1-DCE05603EFE8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926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Authentication &amp; JWT Security</a:t>
            </a:r>
            <a:endParaRPr lang="en-US" sz="3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395BF98-08AB-E93E-E3AF-1ACD3B2B0916}"/>
              </a:ext>
            </a:extLst>
          </p:cNvPr>
          <p:cNvSpPr txBox="1">
            <a:spLocks/>
          </p:cNvSpPr>
          <p:nvPr/>
        </p:nvSpPr>
        <p:spPr>
          <a:xfrm>
            <a:off x="941231" y="1350962"/>
            <a:ext cx="10515600" cy="500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JWT Authentication Flow</a:t>
            </a:r>
            <a:endParaRPr lang="en-IN" sz="2400" dirty="0">
              <a:solidFill>
                <a:schemeClr val="accent5">
                  <a:lumMod val="5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User logs in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Server verifies credentials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JWT token generated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Token sent to frontend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Token validated on each request</a:t>
            </a:r>
          </a:p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“ </a:t>
            </a:r>
            <a:r>
              <a:rPr lang="en-IN" sz="3200" b="1" dirty="0" err="1">
                <a:solidFill>
                  <a:schemeClr val="accent5">
                    <a:lumMod val="50000"/>
                  </a:schemeClr>
                </a:solidFill>
              </a:rPr>
              <a:t>jwt.</a:t>
            </a:r>
            <a:r>
              <a:rPr lang="en-IN" sz="3200" b="1" dirty="0" err="1">
                <a:solidFill>
                  <a:srgbClr val="C00000"/>
                </a:solidFill>
              </a:rPr>
              <a:t>sign</a:t>
            </a: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({ id, role }, </a:t>
            </a:r>
            <a:r>
              <a:rPr lang="en-IN" sz="3200" b="1" dirty="0" err="1">
                <a:solidFill>
                  <a:schemeClr val="accent5">
                    <a:lumMod val="50000"/>
                  </a:schemeClr>
                </a:solidFill>
              </a:rPr>
              <a:t>secretKey</a:t>
            </a: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) “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✔ Stateless authentication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✔ Secure route protection</a:t>
            </a:r>
            <a:endParaRPr lang="en-IN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BC55C-1225-C6EF-F3B5-8680A8F7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4045EF9-4BF9-47DC-8719-C428B1527DDF}" type="slidenum">
              <a:rPr lang="en-US" smtClean="0"/>
              <a:t>8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C73586C-35AD-615D-6B87-EAC129C624E1}"/>
              </a:ext>
            </a:extLst>
          </p:cNvPr>
          <p:cNvCxnSpPr>
            <a:cxnSpLocks/>
          </p:cNvCxnSpPr>
          <p:nvPr/>
        </p:nvCxnSpPr>
        <p:spPr>
          <a:xfrm>
            <a:off x="1400175" y="1229612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57C9BA4-5293-3EA4-D5F3-8508785F9C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03" y="323218"/>
            <a:ext cx="2809875" cy="8094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8EF856-AD23-19F4-8517-A68CCDF8B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585" y="1615155"/>
            <a:ext cx="4772277" cy="4772277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softEdge rad="152400"/>
          </a:effectLst>
          <a:scene3d>
            <a:camera prst="orthographicFront"/>
            <a:lightRig rig="threePt" dir="t"/>
          </a:scene3d>
          <a:sp3d>
            <a:bevelT w="190500" h="190500" prst="convex"/>
            <a:bevelB w="0"/>
          </a:sp3d>
        </p:spPr>
      </p:pic>
    </p:spTree>
    <p:extLst>
      <p:ext uri="{BB962C8B-B14F-4D97-AF65-F5344CB8AC3E}">
        <p14:creationId xmlns:p14="http://schemas.microsoft.com/office/powerpoint/2010/main" val="3712425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39E8C-F27C-9CD4-297F-128479CCA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875C5-D4A0-213F-7BDF-E8F853107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13">
            <a:extLst>
              <a:ext uri="{FF2B5EF4-FFF2-40B4-BE49-F238E27FC236}">
                <a16:creationId xmlns:a16="http://schemas.microsoft.com/office/drawing/2014/main" id="{71EA66EB-9280-B7B1-C12A-F19611E52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5" name="object 2">
            <a:extLst>
              <a:ext uri="{FF2B5EF4-FFF2-40B4-BE49-F238E27FC236}">
                <a16:creationId xmlns:a16="http://schemas.microsoft.com/office/drawing/2014/main" id="{D90E077C-C8DB-0724-3128-AC1CF278179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7" y="18854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  <a:scene3d>
            <a:camera prst="orthographicFront"/>
            <a:lightRig rig="threePt" dir="t"/>
          </a:scene3d>
          <a:sp3d>
            <a:bevelB w="0"/>
          </a:sp3d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182E71B-7F8F-3C6F-5204-7E650991A8F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926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Role-Based Access Control (RBAC)</a:t>
            </a:r>
            <a:endParaRPr lang="en-US" sz="3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9CC00B-0E51-5F64-EF59-4A0E36F4660B}"/>
              </a:ext>
            </a:extLst>
          </p:cNvPr>
          <p:cNvSpPr txBox="1">
            <a:spLocks/>
          </p:cNvSpPr>
          <p:nvPr/>
        </p:nvSpPr>
        <p:spPr>
          <a:xfrm>
            <a:off x="941231" y="1350962"/>
            <a:ext cx="10515600" cy="500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Access Control Rules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User logs in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Admin → Full access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Instructor → Course &amp; assignment management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Student → Limited access (future scope)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Example:</a:t>
            </a:r>
          </a:p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“ </a:t>
            </a:r>
            <a:r>
              <a:rPr lang="en-IN" sz="3200" b="1" dirty="0">
                <a:solidFill>
                  <a:srgbClr val="002060"/>
                </a:solidFill>
              </a:rPr>
              <a:t>if</a:t>
            </a: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 (req.user.role !== </a:t>
            </a:r>
            <a:r>
              <a:rPr lang="en-IN" sz="3200" b="1" dirty="0">
                <a:solidFill>
                  <a:srgbClr val="00B050"/>
                </a:solidFill>
              </a:rPr>
              <a:t>"admin"</a:t>
            </a: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)</a:t>
            </a:r>
            <a:r>
              <a:rPr lang="en-IN" sz="3200" b="1" dirty="0">
                <a:solidFill>
                  <a:srgbClr val="00B050"/>
                </a:solidFill>
              </a:rPr>
              <a:t> </a:t>
            </a: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return </a:t>
            </a:r>
            <a:r>
              <a:rPr lang="en-IN" sz="3200" b="1" dirty="0">
                <a:solidFill>
                  <a:srgbClr val="C00000"/>
                </a:solidFill>
              </a:rPr>
              <a:t>403</a:t>
            </a: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; “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✔ Prevents unauthorized actions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✔ Enforced on backend level</a:t>
            </a:r>
            <a:endParaRPr lang="en-IN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4D9A5B66-7D26-8D36-0DF5-39B977059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4045EF9-4BF9-47DC-8719-C428B1527DDF}" type="slidenum">
              <a:rPr lang="en-US" smtClean="0"/>
              <a:t>9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E243F3-86FA-3805-FA3A-6F805D7731D8}"/>
              </a:ext>
            </a:extLst>
          </p:cNvPr>
          <p:cNvCxnSpPr>
            <a:cxnSpLocks/>
          </p:cNvCxnSpPr>
          <p:nvPr/>
        </p:nvCxnSpPr>
        <p:spPr>
          <a:xfrm>
            <a:off x="1400175" y="1229612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233ADD89-AB69-13B2-F30F-1AEF386741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03" y="323218"/>
            <a:ext cx="2809875" cy="80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550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28A9C39-3FF1-C036-718F-BAA040B3B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IN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74D8C87-EF4C-0D5A-2E6D-8AA3987B32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pic>
        <p:nvPicPr>
          <p:cNvPr id="6" name="Content Placeholder 13">
            <a:extLst>
              <a:ext uri="{FF2B5EF4-FFF2-40B4-BE49-F238E27FC236}">
                <a16:creationId xmlns:a16="http://schemas.microsoft.com/office/drawing/2014/main" id="{8ED29C6C-42D0-CC6C-D22B-75A39EBD1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7" name="object 2">
            <a:extLst>
              <a:ext uri="{FF2B5EF4-FFF2-40B4-BE49-F238E27FC236}">
                <a16:creationId xmlns:a16="http://schemas.microsoft.com/office/drawing/2014/main" id="{BD99523D-2E86-A91E-4F78-43BEE9CE19C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27" y="18854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  <a:scene3d>
            <a:camera prst="orthographicFront"/>
            <a:lightRig rig="threePt" dir="t"/>
          </a:scene3d>
          <a:sp3d>
            <a:bevelB w="0"/>
          </a:sp3d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5B953E0-6E2E-7C97-AA6B-90FC74E3686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926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Postman Testing </a:t>
            </a:r>
            <a:endParaRPr lang="en-US" sz="3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ED64F0-D358-EA7F-0638-85CDA00B6B36}"/>
              </a:ext>
            </a:extLst>
          </p:cNvPr>
          <p:cNvSpPr txBox="1">
            <a:spLocks/>
          </p:cNvSpPr>
          <p:nvPr/>
        </p:nvSpPr>
        <p:spPr>
          <a:xfrm>
            <a:off x="941231" y="1350962"/>
            <a:ext cx="10515600" cy="50053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Why Postman Was Used</a:t>
            </a:r>
            <a:endParaRPr lang="en-IN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Test authentication APIs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Verify JWT tokens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Validate role restrictions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Debug SQL &amp; logic errors</a:t>
            </a:r>
          </a:p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APIs Tested: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✔  /register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✔  /login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✔ /me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📌 Postman used 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only for development &amp; testing</a:t>
            </a:r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5A87EC68-E6CD-8287-1DC5-B5A2C8E4C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4045EF9-4BF9-47DC-8719-C428B1527DDF}" type="slidenum">
              <a:rPr lang="en-US" smtClean="0"/>
              <a:t>10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F328A9-57B9-565B-0CDF-8DAD8A5B7607}"/>
              </a:ext>
            </a:extLst>
          </p:cNvPr>
          <p:cNvCxnSpPr>
            <a:cxnSpLocks/>
          </p:cNvCxnSpPr>
          <p:nvPr/>
        </p:nvCxnSpPr>
        <p:spPr>
          <a:xfrm>
            <a:off x="1400175" y="1229612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D9C4AA7-AEAE-BF3C-90A8-67D272457B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03" y="323218"/>
            <a:ext cx="2809875" cy="8094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A4234D2-2A8D-6D87-8420-3DA3B9C62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044" y="1422777"/>
            <a:ext cx="4065085" cy="406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622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1477D-DB89-A294-597F-35D41E9B6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ED080B49-E471-604B-8192-6A93E7C4945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AB897E-55EF-165C-F830-B007B3A68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Postman Testing: Register API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787B9-AE1E-2A4B-B3E9-3FB5B588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2DA24D-A566-6E34-725B-F124DF0CC462}"/>
              </a:ext>
            </a:extLst>
          </p:cNvPr>
          <p:cNvSpPr txBox="1"/>
          <p:nvPr/>
        </p:nvSpPr>
        <p:spPr>
          <a:xfrm>
            <a:off x="502602" y="1951672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Register API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Endpoint: POST /register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Purpose: Create new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Tested with valid and invalid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Stored in MySQL successfully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33CE4A3-9872-0ED4-E8D3-9243DB551D5E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68CBDD6-28E9-81E1-A15F-7128967B61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313B9C-B092-D3FF-4BCB-98DAA1F558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790" y="1394706"/>
            <a:ext cx="6851619" cy="4286565"/>
          </a:xfrm>
          <a:prstGeom prst="rect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2"/>
              </a:gs>
            </a:gsLst>
            <a:lin ang="54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5644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BF9C4-44F7-38CC-B048-961639E2C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C41C3B93-E3F8-4157-3A7B-F97962809A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3EF256-C5C7-F05A-D954-A9EC1ADD6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Postman Testing: Login API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9DDFC-C666-F7F8-45E9-C11D26585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FDDEC6-DFBA-FE11-8C65-97B4EA5918B0}"/>
              </a:ext>
            </a:extLst>
          </p:cNvPr>
          <p:cNvSpPr txBox="1"/>
          <p:nvPr/>
        </p:nvSpPr>
        <p:spPr>
          <a:xfrm>
            <a:off x="197522" y="1975119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Login API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Endpoint: POST /login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Verifies email &amp; password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Returns JWT token + user info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Error handled: User not found, wrong password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36DA02-F1B2-66D8-4EE5-E562EDCEB7F1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CFAE9798-3448-23E2-3EE9-000A383433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F5AB07-687F-48C0-9381-738352758D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062" y="1371179"/>
            <a:ext cx="6578416" cy="4115642"/>
          </a:xfrm>
          <a:prstGeom prst="rect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2"/>
              </a:gs>
            </a:gsLst>
            <a:lin ang="54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4903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FD563-F389-C078-E3F8-27109282E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61B0353-E7D9-3F90-1083-4EAF6CD15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2EF7D1-7512-A946-A651-63E3DB3C3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Postman Testing: Protected Route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5149B-EE87-9393-ADF2-49D3C0E77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A601F5-1553-522C-A2FD-104948BBF3BD}"/>
              </a:ext>
            </a:extLst>
          </p:cNvPr>
          <p:cNvSpPr txBox="1"/>
          <p:nvPr/>
        </p:nvSpPr>
        <p:spPr>
          <a:xfrm>
            <a:off x="197522" y="1975119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Protected Route: /me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Requires Authorization: Bearer &lt;token&gt;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Returns authenticated user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Ensures JWT security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CBD958-7190-FC20-87B8-18CDF29BC582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836F861F-92FF-A580-0A55-3AA54AA9CE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0E73B1-C4CC-7ABD-DF41-AE8BFBBACB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454" y="1471246"/>
            <a:ext cx="6241320" cy="3915508"/>
          </a:xfrm>
          <a:prstGeom prst="rect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effectLst>
            <a:outerShdw blurRad="50800" dist="38100" dir="5400000" sx="101000" sy="101000" algn="t" rotWithShape="0">
              <a:prstClr val="black"/>
            </a:outerShdw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284534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9A12D-6DC0-4D95-09AC-0291485D7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>
            <a:extLst>
              <a:ext uri="{FF2B5EF4-FFF2-40B4-BE49-F238E27FC236}">
                <a16:creationId xmlns:a16="http://schemas.microsoft.com/office/drawing/2014/main" id="{C5F8962F-AA04-8273-A564-14ECA343EE8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8424D2-85CD-9051-0A5A-C406B400F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(Register Page)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CC4D6-347C-238C-F201-D13F49D0D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9F1CE2-0619-209A-B358-8337CE5E034E}"/>
              </a:ext>
            </a:extLst>
          </p:cNvPr>
          <p:cNvSpPr txBox="1"/>
          <p:nvPr/>
        </p:nvSpPr>
        <p:spPr>
          <a:xfrm>
            <a:off x="502602" y="1951672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Register Page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Name, email, password fields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Input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Connected to backend register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Auto-redirect after successful signup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3145C2-9BF4-9C89-7085-752F85C47CBB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630BAA9-21B0-B1CC-F837-0B33B1CD53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A138BF-D236-4A8A-A62F-BC48D704AB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864" y="1574887"/>
            <a:ext cx="6279363" cy="418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655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8169A-C0C2-E317-E4A6-F3F3E432B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ject 2">
            <a:extLst>
              <a:ext uri="{FF2B5EF4-FFF2-40B4-BE49-F238E27FC236}">
                <a16:creationId xmlns:a16="http://schemas.microsoft.com/office/drawing/2014/main" id="{D37F6A7C-0323-E595-EC56-747E5471ED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61D2C5-BBCC-E426-2671-515EE6764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(Login Page)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DF828-B676-9413-9698-0E2DF18E5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AE63B3-F879-F324-10A5-C1A69076A1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808" y="1160585"/>
            <a:ext cx="4865992" cy="4865992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439EBE-7579-0F46-7F93-8DB8DCC9001E}"/>
              </a:ext>
            </a:extLst>
          </p:cNvPr>
          <p:cNvSpPr txBox="1"/>
          <p:nvPr/>
        </p:nvSpPr>
        <p:spPr>
          <a:xfrm>
            <a:off x="502602" y="1951672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Login Page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 Clean user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 Email and password input fields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 Error handling for invalid credentials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 Integrated with backend login API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3F6AA8-2473-E8CA-0907-30C4C9112B68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0856022-3B93-1FB2-15A1-8721AEC912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7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35EE8-11F2-50D5-1A93-60D4B6E6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CB5830AD-38A7-5ABA-DE98-F25C9FB65E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585DE7-1021-7211-4CC0-12AE5F24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Landing Page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0C6EB-855C-875C-9A43-90492F3B7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3B0966-BFC4-78F7-51E4-33E2FB3B8DA4}"/>
              </a:ext>
            </a:extLst>
          </p:cNvPr>
          <p:cNvSpPr txBox="1"/>
          <p:nvPr/>
        </p:nvSpPr>
        <p:spPr>
          <a:xfrm>
            <a:off x="359567" y="2090172"/>
            <a:ext cx="59833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What the Landing Page Represents:</a:t>
            </a:r>
          </a:p>
          <a:p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The landing page is the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first point of interaction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 for users on the 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</a:rPr>
              <a:t>SkillForge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 learning platform.</a:t>
            </a:r>
            <a:br>
              <a:rPr lang="en-US" sz="24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It communicates the platform’s purpose, key features, and encourages users to sign up or log in.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657EED-A4F9-615F-8F8D-AA4B075B8EF3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AB915A5-090C-39EE-FEBB-A5A4034EAB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3E2184-DB42-5621-6F58-2D5CA53EE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897" y="1349431"/>
            <a:ext cx="4590997" cy="459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492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C8041-E9CE-DEEE-F2C0-9930DD3CC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11F4748-5883-F289-6696-47916445AF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pic>
        <p:nvPicPr>
          <p:cNvPr id="4" name="object 2">
            <a:extLst>
              <a:ext uri="{FF2B5EF4-FFF2-40B4-BE49-F238E27FC236}">
                <a16:creationId xmlns:a16="http://schemas.microsoft.com/office/drawing/2014/main" id="{94472074-209F-C05F-B74F-77620883321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A929828-550C-B82B-F1FB-ED14EF8B0100}"/>
              </a:ext>
            </a:extLst>
          </p:cNvPr>
          <p:cNvSpPr txBox="1">
            <a:spLocks/>
          </p:cNvSpPr>
          <p:nvPr/>
        </p:nvSpPr>
        <p:spPr>
          <a:xfrm>
            <a:off x="1230008" y="234009"/>
            <a:ext cx="10515600" cy="881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solidFill>
                  <a:schemeClr val="accent5">
                    <a:lumMod val="50000"/>
                  </a:schemeClr>
                </a:solidFill>
              </a:rPr>
              <a:t>Student Dashboard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463D4-A5CD-0223-72ED-85B9F71E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4045EF9-4BF9-47DC-8719-C428B1527DDF}" type="slidenum">
              <a:rPr lang="en-US" smtClean="0">
                <a:solidFill>
                  <a:schemeClr val="accent5">
                    <a:lumMod val="50000"/>
                  </a:schemeClr>
                </a:solidFill>
              </a:rPr>
              <a:t>17</a:t>
            </a:fld>
            <a:endParaRPr 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30090-FF93-9F46-2AEC-8B2F72F0EE47}"/>
              </a:ext>
            </a:extLst>
          </p:cNvPr>
          <p:cNvSpPr txBox="1"/>
          <p:nvPr/>
        </p:nvSpPr>
        <p:spPr>
          <a:xfrm>
            <a:off x="855192" y="1821804"/>
            <a:ext cx="755577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📘 Student Can: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View courses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Attempt AI quizzes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Submit assignments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Receive AI feedback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Track quiz history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1AE409D-C7DC-0035-33A0-9960CEAF0E4C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8420DF2-164C-7C59-EB88-01A3850224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D7D27C1-69A2-4533-56F0-A963CAD25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826" y="1299107"/>
            <a:ext cx="4994545" cy="499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009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0CFC-D8A2-F07A-67C7-0008A25D1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78484237-2F02-4846-7FED-721297E91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pic>
        <p:nvPicPr>
          <p:cNvPr id="4" name="Content Placeholder 11">
            <a:extLst>
              <a:ext uri="{FF2B5EF4-FFF2-40B4-BE49-F238E27FC236}">
                <a16:creationId xmlns:a16="http://schemas.microsoft.com/office/drawing/2014/main" id="{03E27C00-1514-6EE9-0428-60D6EC841F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5" name="object 2">
            <a:extLst>
              <a:ext uri="{FF2B5EF4-FFF2-40B4-BE49-F238E27FC236}">
                <a16:creationId xmlns:a16="http://schemas.microsoft.com/office/drawing/2014/main" id="{F24D9541-D962-90B6-4674-2B7280B7D39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FAC6CB8-50BC-0AE8-B72B-B121507F2891}"/>
              </a:ext>
            </a:extLst>
          </p:cNvPr>
          <p:cNvSpPr txBox="1">
            <a:spLocks/>
          </p:cNvSpPr>
          <p:nvPr/>
        </p:nvSpPr>
        <p:spPr>
          <a:xfrm>
            <a:off x="1230008" y="234009"/>
            <a:ext cx="10515600" cy="881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solidFill>
                  <a:schemeClr val="accent5">
                    <a:lumMod val="50000"/>
                  </a:schemeClr>
                </a:solidFill>
              </a:rPr>
              <a:t>Instructor Dashboard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B6A8004-4723-51F4-395A-37E851A2B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4045EF9-4BF9-47DC-8719-C428B1527DDF}" type="slidenum">
              <a:rPr lang="en-US" smtClean="0">
                <a:solidFill>
                  <a:schemeClr val="accent5">
                    <a:lumMod val="50000"/>
                  </a:schemeClr>
                </a:solidFill>
              </a:rPr>
              <a:t>18</a:t>
            </a:fld>
            <a:endParaRPr 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D891F-3AA8-C5FB-ACCD-1391844C1181}"/>
              </a:ext>
            </a:extLst>
          </p:cNvPr>
          <p:cNvSpPr txBox="1"/>
          <p:nvPr/>
        </p:nvSpPr>
        <p:spPr>
          <a:xfrm>
            <a:off x="855192" y="1821804"/>
            <a:ext cx="755577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Instructor</a:t>
            </a:r>
          </a:p>
          <a:p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Create assignments</a:t>
            </a:r>
          </a:p>
          <a:p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View student performance</a:t>
            </a:r>
          </a:p>
          <a:p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Analytics dashboard</a:t>
            </a:r>
          </a:p>
          <a:p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Track weak areas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AC7B97-65DB-1894-4105-EF9CEE97AAED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0B6DE02B-742F-E248-3BB8-6886B59B6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D637557-3EE2-1789-594E-112F614ED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217" y="1411786"/>
            <a:ext cx="4648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61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89BC5-EDF6-E1C6-B5EA-B3E0971B6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0E9903C-A38F-72FD-0F0C-4D8BDC740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9917CC7C-E9F5-421B-9F8D-83695B611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5" name="Content Placeholder 11">
            <a:extLst>
              <a:ext uri="{FF2B5EF4-FFF2-40B4-BE49-F238E27FC236}">
                <a16:creationId xmlns:a16="http://schemas.microsoft.com/office/drawing/2014/main" id="{B29B1E5E-2E7B-F666-B8DE-7629682607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6" name="object 2">
            <a:extLst>
              <a:ext uri="{FF2B5EF4-FFF2-40B4-BE49-F238E27FC236}">
                <a16:creationId xmlns:a16="http://schemas.microsoft.com/office/drawing/2014/main" id="{61628780-99BD-0B33-A721-FDCABA56048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27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46A622F-C127-5950-CA6E-EB910BC05DB7}"/>
              </a:ext>
            </a:extLst>
          </p:cNvPr>
          <p:cNvSpPr txBox="1">
            <a:spLocks/>
          </p:cNvSpPr>
          <p:nvPr/>
        </p:nvSpPr>
        <p:spPr>
          <a:xfrm>
            <a:off x="1230008" y="234009"/>
            <a:ext cx="10515600" cy="881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AI Quiz Generation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4074517-69D7-CB9D-B297-1E5D38EA7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4045EF9-4BF9-47DC-8719-C428B1527DDF}" type="slidenum">
              <a:rPr lang="en-US" smtClean="0">
                <a:solidFill>
                  <a:schemeClr val="accent5">
                    <a:lumMod val="50000"/>
                  </a:schemeClr>
                </a:solidFill>
              </a:rPr>
              <a:t>19</a:t>
            </a:fld>
            <a:endParaRPr 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D55EB7-0906-0195-7AEE-9E5505AF0301}"/>
              </a:ext>
            </a:extLst>
          </p:cNvPr>
          <p:cNvSpPr txBox="1"/>
          <p:nvPr/>
        </p:nvSpPr>
        <p:spPr>
          <a:xfrm>
            <a:off x="855192" y="1821804"/>
            <a:ext cx="755577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🤖 How AI Quiz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Student selects topic &amp; difficulty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AI dynamically generates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Each quiz is unique (random seed)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Includes: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Questions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Options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Correct answers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Concepts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73BC89C-9BE1-5DC5-C626-5495404A4FFC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D974630-7D3E-8E70-A40B-A9C35614FC2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F58B06-8DA6-878A-FBC5-18ACC64BE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950" y="1492773"/>
            <a:ext cx="4528794" cy="452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92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FF323-C594-9CB3-04D4-3984E68E3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BF0BE-CB4C-54FD-8579-A402CB761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D9D9B13-C428-E979-A2F2-0FBFF4BE24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5AA5494D-0CA2-0773-A894-F596C25EF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5" name="Content Placeholder 11">
            <a:extLst>
              <a:ext uri="{FF2B5EF4-FFF2-40B4-BE49-F238E27FC236}">
                <a16:creationId xmlns:a16="http://schemas.microsoft.com/office/drawing/2014/main" id="{DD6FD5E7-D569-1B05-E333-A8D6873E10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6" name="object 2">
            <a:extLst>
              <a:ext uri="{FF2B5EF4-FFF2-40B4-BE49-F238E27FC236}">
                <a16:creationId xmlns:a16="http://schemas.microsoft.com/office/drawing/2014/main" id="{42E23DE8-9CC6-F832-1EA0-F069D91E780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27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143FF90-9A2E-62AC-F23C-1FC9C769178A}"/>
              </a:ext>
            </a:extLst>
          </p:cNvPr>
          <p:cNvSpPr txBox="1">
            <a:spLocks/>
          </p:cNvSpPr>
          <p:nvPr/>
        </p:nvSpPr>
        <p:spPr>
          <a:xfrm>
            <a:off x="1230008" y="234009"/>
            <a:ext cx="10515600" cy="881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AI Quiz Generation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E49CDDB-4371-95F8-1EA7-267B7FE2C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4045EF9-4BF9-47DC-8719-C428B1527DDF}" type="slidenum">
              <a:rPr lang="en-US" smtClean="0">
                <a:solidFill>
                  <a:schemeClr val="accent5">
                    <a:lumMod val="50000"/>
                  </a:schemeClr>
                </a:solidFill>
              </a:rPr>
              <a:t>20</a:t>
            </a:fld>
            <a:endParaRPr 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AB9373-E4C8-104F-B64A-3BAD1937D2EB}"/>
              </a:ext>
            </a:extLst>
          </p:cNvPr>
          <p:cNvSpPr txBox="1"/>
          <p:nvPr/>
        </p:nvSpPr>
        <p:spPr>
          <a:xfrm>
            <a:off x="715896" y="1821804"/>
            <a:ext cx="755577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📊 Smart Quiz Evaluation:</a:t>
            </a:r>
          </a:p>
          <a:p>
            <a:endParaRPr lang="en-IN" sz="24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Deterministic scoring (100% accurate)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Correct &amp; wrong answers highlighted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Weak areas automatically detected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Score saved in database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Quiz history maintained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9B3239-E908-2F95-FA57-E64C570B1CBD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5BD7569-6A22-3062-59C6-EF7BC1E80C3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3BE9A2-4ABB-FEB4-5EAA-9E36757428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758" y="1451212"/>
            <a:ext cx="4519367" cy="451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7596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75B1-5BA2-C93C-FE70-62195E55C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13">
            <a:extLst>
              <a:ext uri="{FF2B5EF4-FFF2-40B4-BE49-F238E27FC236}">
                <a16:creationId xmlns:a16="http://schemas.microsoft.com/office/drawing/2014/main" id="{7958D09D-83B2-D11A-54F4-1D4D3BF08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5" name="Content Placeholder 14">
            <a:extLst>
              <a:ext uri="{FF2B5EF4-FFF2-40B4-BE49-F238E27FC236}">
                <a16:creationId xmlns:a16="http://schemas.microsoft.com/office/drawing/2014/main" id="{1518092F-91B6-E4FC-A494-C8E649B6A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6" name="Content Placeholder 11">
            <a:extLst>
              <a:ext uri="{FF2B5EF4-FFF2-40B4-BE49-F238E27FC236}">
                <a16:creationId xmlns:a16="http://schemas.microsoft.com/office/drawing/2014/main" id="{F0ED9195-4B86-16B9-B5A1-B5EEB78E31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7" name="object 2">
            <a:extLst>
              <a:ext uri="{FF2B5EF4-FFF2-40B4-BE49-F238E27FC236}">
                <a16:creationId xmlns:a16="http://schemas.microsoft.com/office/drawing/2014/main" id="{BC8768F3-E7F8-847B-F1FA-15BAA6758BC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27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9F1C879-0BCC-A389-F04B-DD124186671D}"/>
              </a:ext>
            </a:extLst>
          </p:cNvPr>
          <p:cNvSpPr txBox="1">
            <a:spLocks/>
          </p:cNvSpPr>
          <p:nvPr/>
        </p:nvSpPr>
        <p:spPr>
          <a:xfrm>
            <a:off x="1230008" y="234009"/>
            <a:ext cx="10515600" cy="881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Assignment Module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4BAC3DA-400E-8168-D33E-9BE7B2321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4045EF9-4BF9-47DC-8719-C428B1527DDF}" type="slidenum">
              <a:rPr lang="en-US" smtClean="0">
                <a:solidFill>
                  <a:schemeClr val="accent5">
                    <a:lumMod val="50000"/>
                  </a:schemeClr>
                </a:solidFill>
              </a:rPr>
              <a:t>21</a:t>
            </a:fld>
            <a:endParaRPr 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FC9AA3-1557-58A7-F899-8640F0ACB630}"/>
              </a:ext>
            </a:extLst>
          </p:cNvPr>
          <p:cNvSpPr txBox="1"/>
          <p:nvPr/>
        </p:nvSpPr>
        <p:spPr>
          <a:xfrm>
            <a:off x="574494" y="2146981"/>
            <a:ext cx="755577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📘 Assignment Workflow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Instructor creates assignments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Student submits solution (code/text)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AI evaluates answers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Score &amp; feedback generated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Status: submitted / evaluated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350EB5-FFB0-5A04-A5C8-BCB39829A427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C4B8D90E-877F-0F73-84B8-06EA46B4B7D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BD6D1F65-FA85-3F24-A623-50A245447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213" y="1715386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522004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A2967-5FEE-745B-5433-985E78C65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13">
            <a:extLst>
              <a:ext uri="{FF2B5EF4-FFF2-40B4-BE49-F238E27FC236}">
                <a16:creationId xmlns:a16="http://schemas.microsoft.com/office/drawing/2014/main" id="{5BF2BA51-A9F0-793F-5251-8B89AD72F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5" name="Content Placeholder 14">
            <a:extLst>
              <a:ext uri="{FF2B5EF4-FFF2-40B4-BE49-F238E27FC236}">
                <a16:creationId xmlns:a16="http://schemas.microsoft.com/office/drawing/2014/main" id="{6851E93B-E70A-FB1E-40AF-0C2A75DE23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6" name="Content Placeholder 11">
            <a:extLst>
              <a:ext uri="{FF2B5EF4-FFF2-40B4-BE49-F238E27FC236}">
                <a16:creationId xmlns:a16="http://schemas.microsoft.com/office/drawing/2014/main" id="{221AF614-85A9-66C6-FD1D-AC6B2FE3AC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7" name="object 2">
            <a:extLst>
              <a:ext uri="{FF2B5EF4-FFF2-40B4-BE49-F238E27FC236}">
                <a16:creationId xmlns:a16="http://schemas.microsoft.com/office/drawing/2014/main" id="{213DFAB5-E74D-1811-E663-82B70019A96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27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0592B90-5A7C-5DF2-7CD6-C3037DD887C1}"/>
              </a:ext>
            </a:extLst>
          </p:cNvPr>
          <p:cNvSpPr txBox="1">
            <a:spLocks/>
          </p:cNvSpPr>
          <p:nvPr/>
        </p:nvSpPr>
        <p:spPr>
          <a:xfrm>
            <a:off x="1230008" y="234009"/>
            <a:ext cx="10515600" cy="881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AI Assignment Evaluation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CB55223-011B-D054-153C-F77DB1D22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4045EF9-4BF9-47DC-8719-C428B1527DDF}" type="slidenum">
              <a:rPr lang="en-US" smtClean="0">
                <a:solidFill>
                  <a:schemeClr val="accent5">
                    <a:lumMod val="50000"/>
                  </a:schemeClr>
                </a:solidFill>
              </a:rPr>
              <a:t>22</a:t>
            </a:fld>
            <a:endParaRPr 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7450EA-EB66-AFA8-2D66-4161C20622A9}"/>
              </a:ext>
            </a:extLst>
          </p:cNvPr>
          <p:cNvSpPr txBox="1"/>
          <p:nvPr/>
        </p:nvSpPr>
        <p:spPr>
          <a:xfrm>
            <a:off x="574494" y="2146981"/>
            <a:ext cx="755577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🤖 AI Assignment Evaluation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Code analysis using AI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Logic validation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Test case verification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Automated scoring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Feedback for </a:t>
            </a:r>
            <a:r>
              <a:rPr lang="en-IN" sz="2800" dirty="0" err="1">
                <a:solidFill>
                  <a:schemeClr val="accent5">
                    <a:lumMod val="50000"/>
                  </a:schemeClr>
                </a:solidFill>
              </a:rPr>
              <a:t>improvemen</a:t>
            </a:r>
            <a:endParaRPr lang="en-IN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72C8C4-8D8D-1D75-A629-DB3A47337A15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D8BF71BC-2773-2BCF-3224-08D9E9B1B43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3E86527C-7A4E-98D0-5849-FA29BFC3D5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292" y="15342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169963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06B30-F05E-6787-F113-A13880EE1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13">
            <a:extLst>
              <a:ext uri="{FF2B5EF4-FFF2-40B4-BE49-F238E27FC236}">
                <a16:creationId xmlns:a16="http://schemas.microsoft.com/office/drawing/2014/main" id="{13C11FAE-3BDB-E825-570F-131817315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5" name="Content Placeholder 14">
            <a:extLst>
              <a:ext uri="{FF2B5EF4-FFF2-40B4-BE49-F238E27FC236}">
                <a16:creationId xmlns:a16="http://schemas.microsoft.com/office/drawing/2014/main" id="{0458D379-A13F-B624-4CAD-2A8BE9DEA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6" name="Content Placeholder 11">
            <a:extLst>
              <a:ext uri="{FF2B5EF4-FFF2-40B4-BE49-F238E27FC236}">
                <a16:creationId xmlns:a16="http://schemas.microsoft.com/office/drawing/2014/main" id="{48EB2CA1-C54C-3A06-CF45-9B73FE27BE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7" name="object 2">
            <a:extLst>
              <a:ext uri="{FF2B5EF4-FFF2-40B4-BE49-F238E27FC236}">
                <a16:creationId xmlns:a16="http://schemas.microsoft.com/office/drawing/2014/main" id="{A42D9388-C00A-25BB-8D00-E56B0BC90CF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27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3440C75-2808-B7E2-9651-4C7EBF0850CA}"/>
              </a:ext>
            </a:extLst>
          </p:cNvPr>
          <p:cNvSpPr txBox="1">
            <a:spLocks/>
          </p:cNvSpPr>
          <p:nvPr/>
        </p:nvSpPr>
        <p:spPr>
          <a:xfrm>
            <a:off x="1230008" y="234009"/>
            <a:ext cx="10515600" cy="881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Charts &amp; Graphs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78CEC3D-7ED4-576C-E730-665BB695C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4045EF9-4BF9-47DC-8719-C428B1527DDF}" type="slidenum">
              <a:rPr lang="en-US" smtClean="0">
                <a:solidFill>
                  <a:schemeClr val="accent5">
                    <a:lumMod val="50000"/>
                  </a:schemeClr>
                </a:solidFill>
              </a:rPr>
              <a:t>23</a:t>
            </a:fld>
            <a:endParaRPr 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F66CC6-72BF-F0E4-5FB8-C5903BB8B6DC}"/>
              </a:ext>
            </a:extLst>
          </p:cNvPr>
          <p:cNvSpPr txBox="1"/>
          <p:nvPr/>
        </p:nvSpPr>
        <p:spPr>
          <a:xfrm>
            <a:off x="574494" y="2146981"/>
            <a:ext cx="755577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📈 Visual Analytics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Quiz score trend (Line chart)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Topic-wise weak areas (Bar chart)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Easy to identify learning gaps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Built using Chart.js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090658-0CCB-256B-95A8-FC8BF81CA918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A12CE5B-8DB0-ECD0-B56C-CCD7D5AB986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F76FC1DF-AC07-83C5-A0B3-3A2634AC9D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678" y="1429746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6545221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EE7E-DBDE-9944-92C8-21B531376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13">
            <a:extLst>
              <a:ext uri="{FF2B5EF4-FFF2-40B4-BE49-F238E27FC236}">
                <a16:creationId xmlns:a16="http://schemas.microsoft.com/office/drawing/2014/main" id="{1F907385-5276-5D1F-EFA5-8A756921F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5" name="Content Placeholder 14">
            <a:extLst>
              <a:ext uri="{FF2B5EF4-FFF2-40B4-BE49-F238E27FC236}">
                <a16:creationId xmlns:a16="http://schemas.microsoft.com/office/drawing/2014/main" id="{3B224CBE-504A-D4F5-E21B-31BB45235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6" name="Content Placeholder 11">
            <a:extLst>
              <a:ext uri="{FF2B5EF4-FFF2-40B4-BE49-F238E27FC236}">
                <a16:creationId xmlns:a16="http://schemas.microsoft.com/office/drawing/2014/main" id="{95979F76-651D-5753-9860-82C5C946EA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7" name="object 2">
            <a:extLst>
              <a:ext uri="{FF2B5EF4-FFF2-40B4-BE49-F238E27FC236}">
                <a16:creationId xmlns:a16="http://schemas.microsoft.com/office/drawing/2014/main" id="{0B830FA3-4A10-DC73-90F2-FBC366CFD1A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27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7936645-66C9-BC4C-0751-201D81B121DD}"/>
              </a:ext>
            </a:extLst>
          </p:cNvPr>
          <p:cNvSpPr txBox="1">
            <a:spLocks/>
          </p:cNvSpPr>
          <p:nvPr/>
        </p:nvSpPr>
        <p:spPr>
          <a:xfrm>
            <a:off x="1230008" y="234009"/>
            <a:ext cx="10515600" cy="881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AI Chatbot (Landing Page)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53CC748-E6A9-8934-CF9D-1AFD037CC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4045EF9-4BF9-47DC-8719-C428B1527DDF}" type="slidenum">
              <a:rPr lang="en-US" smtClean="0">
                <a:solidFill>
                  <a:schemeClr val="accent5">
                    <a:lumMod val="50000"/>
                  </a:schemeClr>
                </a:solidFill>
              </a:rPr>
              <a:t>24</a:t>
            </a:fld>
            <a:endParaRPr 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D1B5EA-3BE8-5062-C078-CB476334A8E4}"/>
              </a:ext>
            </a:extLst>
          </p:cNvPr>
          <p:cNvSpPr txBox="1"/>
          <p:nvPr/>
        </p:nvSpPr>
        <p:spPr>
          <a:xfrm>
            <a:off x="574494" y="2146981"/>
            <a:ext cx="755577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🤖 </a:t>
            </a:r>
            <a:r>
              <a:rPr lang="en-IN" sz="2800" b="1" dirty="0" err="1">
                <a:solidFill>
                  <a:schemeClr val="accent5">
                    <a:lumMod val="50000"/>
                  </a:schemeClr>
                </a:solidFill>
              </a:rPr>
              <a:t>SkillForge</a:t>
            </a:r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 AI Chatbot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Available on landing page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Answers platform-related questions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Helps users navigate features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Powered by free AI API (</a:t>
            </a:r>
            <a:r>
              <a:rPr lang="en-IN" sz="2800" dirty="0" err="1">
                <a:solidFill>
                  <a:schemeClr val="accent5">
                    <a:lumMod val="50000"/>
                  </a:schemeClr>
                </a:solidFill>
              </a:rPr>
              <a:t>Groq</a:t>
            </a: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ADE7BA-860A-549B-7FC3-102245875CC5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C9AED07-3F46-0FA6-7392-30CAA6D07A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348300A6-861C-8D96-AE5F-977CD6E13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766" y="1523409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4006474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F49EF-58B2-5799-74B6-7B4635224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13">
            <a:extLst>
              <a:ext uri="{FF2B5EF4-FFF2-40B4-BE49-F238E27FC236}">
                <a16:creationId xmlns:a16="http://schemas.microsoft.com/office/drawing/2014/main" id="{92BC6EAD-55DF-8757-8D3B-D2FCAF634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5" name="Content Placeholder 14">
            <a:extLst>
              <a:ext uri="{FF2B5EF4-FFF2-40B4-BE49-F238E27FC236}">
                <a16:creationId xmlns:a16="http://schemas.microsoft.com/office/drawing/2014/main" id="{AB23227B-AD68-41F7-1A74-B45BEB4A8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6" name="Content Placeholder 11">
            <a:extLst>
              <a:ext uri="{FF2B5EF4-FFF2-40B4-BE49-F238E27FC236}">
                <a16:creationId xmlns:a16="http://schemas.microsoft.com/office/drawing/2014/main" id="{21835A02-A47E-E1AD-9305-4C3C9B398E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7" name="object 2">
            <a:extLst>
              <a:ext uri="{FF2B5EF4-FFF2-40B4-BE49-F238E27FC236}">
                <a16:creationId xmlns:a16="http://schemas.microsoft.com/office/drawing/2014/main" id="{69CBC8D6-9508-85B5-5643-007473FDDCA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27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EE06DE2-3E18-E8C8-F8B9-2FC1610D99C7}"/>
              </a:ext>
            </a:extLst>
          </p:cNvPr>
          <p:cNvSpPr txBox="1">
            <a:spLocks/>
          </p:cNvSpPr>
          <p:nvPr/>
        </p:nvSpPr>
        <p:spPr>
          <a:xfrm>
            <a:off x="1230008" y="234009"/>
            <a:ext cx="10515600" cy="881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Technology Stack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75A7DE6-6265-EC74-EA6E-BBC8E6EB8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4045EF9-4BF9-47DC-8719-C428B1527DDF}" type="slidenum">
              <a:rPr lang="en-US" smtClean="0">
                <a:solidFill>
                  <a:schemeClr val="accent5">
                    <a:lumMod val="50000"/>
                  </a:schemeClr>
                </a:solidFill>
              </a:rPr>
              <a:t>25</a:t>
            </a:fld>
            <a:endParaRPr 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4C5F2A-5E96-11C4-6774-CEC511ED3BF3}"/>
              </a:ext>
            </a:extLst>
          </p:cNvPr>
          <p:cNvSpPr txBox="1"/>
          <p:nvPr/>
        </p:nvSpPr>
        <p:spPr>
          <a:xfrm>
            <a:off x="574494" y="2146981"/>
            <a:ext cx="755577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🛠️ Tech Used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Frontend:</a:t>
            </a: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 HTML, CSS, JavaScript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Backend:</a:t>
            </a: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 Node.js, Express.js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Database:</a:t>
            </a: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 MySQL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AI Models:</a:t>
            </a: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IN" sz="2800" dirty="0" err="1">
                <a:solidFill>
                  <a:schemeClr val="accent5">
                    <a:lumMod val="50000"/>
                  </a:schemeClr>
                </a:solidFill>
              </a:rPr>
              <a:t>Groq</a:t>
            </a: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 LLMs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Charts:</a:t>
            </a: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 Chart.js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Auth:</a:t>
            </a: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 JWT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CE34E4-BB51-6473-EDBB-046AA9866715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24894CA-6D60-56FA-96A0-187B3C8C557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4383107F-244B-69BF-8399-8C9653B387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678" y="1560217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9083367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BBD30-DDEF-32A7-F6D8-F1F4B7665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13">
            <a:extLst>
              <a:ext uri="{FF2B5EF4-FFF2-40B4-BE49-F238E27FC236}">
                <a16:creationId xmlns:a16="http://schemas.microsoft.com/office/drawing/2014/main" id="{8CDD0982-802B-1A49-9336-0E80AA77E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5" name="Content Placeholder 14">
            <a:extLst>
              <a:ext uri="{FF2B5EF4-FFF2-40B4-BE49-F238E27FC236}">
                <a16:creationId xmlns:a16="http://schemas.microsoft.com/office/drawing/2014/main" id="{2FF504BC-24C5-33FC-037D-F3F10D716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6" name="Content Placeholder 11">
            <a:extLst>
              <a:ext uri="{FF2B5EF4-FFF2-40B4-BE49-F238E27FC236}">
                <a16:creationId xmlns:a16="http://schemas.microsoft.com/office/drawing/2014/main" id="{B65E279C-045F-57E9-204E-D00E576525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7" name="object 2">
            <a:extLst>
              <a:ext uri="{FF2B5EF4-FFF2-40B4-BE49-F238E27FC236}">
                <a16:creationId xmlns:a16="http://schemas.microsoft.com/office/drawing/2014/main" id="{975AA6AC-DCE5-E583-D99B-59E60EE26C7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27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664B14F-AD7A-E63B-F8E7-F6BABDC45106}"/>
              </a:ext>
            </a:extLst>
          </p:cNvPr>
          <p:cNvSpPr txBox="1">
            <a:spLocks/>
          </p:cNvSpPr>
          <p:nvPr/>
        </p:nvSpPr>
        <p:spPr>
          <a:xfrm>
            <a:off x="1230008" y="234009"/>
            <a:ext cx="10515600" cy="881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Advantages of </a:t>
            </a:r>
            <a:r>
              <a:rPr lang="en-IN" sz="4000" b="1" dirty="0" err="1">
                <a:solidFill>
                  <a:schemeClr val="accent5">
                    <a:lumMod val="50000"/>
                  </a:schemeClr>
                </a:solidFill>
              </a:rPr>
              <a:t>SkillForge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F001543-0955-C259-6AA2-596E35A22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4045EF9-4BF9-47DC-8719-C428B1527DDF}" type="slidenum">
              <a:rPr lang="en-US" smtClean="0">
                <a:solidFill>
                  <a:schemeClr val="accent5">
                    <a:lumMod val="50000"/>
                  </a:schemeClr>
                </a:solidFill>
              </a:rPr>
              <a:t>26</a:t>
            </a:fld>
            <a:endParaRPr 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F79A9F-B4A0-177D-2A1F-735EB37ACF81}"/>
              </a:ext>
            </a:extLst>
          </p:cNvPr>
          <p:cNvSpPr txBox="1"/>
          <p:nvPr/>
        </p:nvSpPr>
        <p:spPr>
          <a:xfrm>
            <a:off x="574494" y="2146981"/>
            <a:ext cx="755577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Key Benefits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Fully automated evaluation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Personalized learning experience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Saves instructor 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Real-time analytics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Scalable &amp; modular design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5580DA-D814-D75C-6616-F570025B3F5C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4A353992-C7A9-C311-8063-8C193A837D8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4DD87126-8199-6035-6269-C79D92293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276" y="1523409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302346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31AA9-C3AA-1354-1FBF-F53D73CA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23278A4-E05A-9185-673E-EEB531B89A2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88480F-9FFA-3A14-575D-6233BFD51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Conclusion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709D1-F77A-A283-D734-79792999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27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737F95-79CC-52F5-D821-6B7AB8404087}"/>
              </a:ext>
            </a:extLst>
          </p:cNvPr>
          <p:cNvSpPr txBox="1"/>
          <p:nvPr/>
        </p:nvSpPr>
        <p:spPr>
          <a:xfrm>
            <a:off x="502601" y="1951670"/>
            <a:ext cx="633195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🎯 Final Summary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 err="1">
                <a:solidFill>
                  <a:schemeClr val="accent5">
                    <a:lumMod val="50000"/>
                  </a:schemeClr>
                </a:solidFill>
              </a:rPr>
              <a:t>SkillForge</a:t>
            </a: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 is a smart AI-driven learning platform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Enhances both teaching &amp; learning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Combines AI, analytics, and automation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Ready for real-world deployment</a:t>
            </a:r>
          </a:p>
          <a:p>
            <a:endParaRPr lang="en-IN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8BBC32-7EF6-7A4A-D94D-B4CB1320F3B8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40CBAA2-8F75-6E2C-BC1F-E97745C70C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E4BBA0-F495-EE5B-D69D-5C70BB2088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480" y="1672778"/>
            <a:ext cx="4097213" cy="40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2725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22A25E9B-9669-1997-49A9-1FF2A7CE63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819" y="2791326"/>
            <a:ext cx="10515600" cy="1046511"/>
          </a:xfrm>
        </p:spPr>
        <p:txBody>
          <a:bodyPr>
            <a:noAutofit/>
          </a:bodyPr>
          <a:lstStyle/>
          <a:p>
            <a:pPr algn="ctr"/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28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3F47F3-F6E5-D2F3-F705-E09101E073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83" y="117453"/>
            <a:ext cx="2602513" cy="74974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EF0BDB-ACCB-012A-9BE5-35D198E00C70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364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5017</TotalTime>
  <Words>1061</Words>
  <Application>Microsoft Office PowerPoint</Application>
  <PresentationFormat>Widescreen</PresentationFormat>
  <Paragraphs>263</Paragraphs>
  <Slides>28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Times New Roman</vt:lpstr>
      <vt:lpstr>Wingdings</vt:lpstr>
      <vt:lpstr>Office Theme</vt:lpstr>
      <vt:lpstr>  PRESENTED BY  Shanmukha Rao Sahukari                    </vt:lpstr>
      <vt:lpstr>TABLE OF CONTENTS</vt:lpstr>
      <vt:lpstr>Project Overview</vt:lpstr>
      <vt:lpstr>Product Backlog (Sprint 1)</vt:lpstr>
      <vt:lpstr>PowerPoint Presentation</vt:lpstr>
      <vt:lpstr>PowerPoint Presentation</vt:lpstr>
      <vt:lpstr>Database Design</vt:lpstr>
      <vt:lpstr>PowerPoint Presentation</vt:lpstr>
      <vt:lpstr>PowerPoint Presentation</vt:lpstr>
      <vt:lpstr>PowerPoint Presentation</vt:lpstr>
      <vt:lpstr>Postman Testing: Register API</vt:lpstr>
      <vt:lpstr>Postman Testing: Login API</vt:lpstr>
      <vt:lpstr>Postman Testing: Protected Route</vt:lpstr>
      <vt:lpstr>(Register Page)</vt:lpstr>
      <vt:lpstr>(Login Page)</vt:lpstr>
      <vt:lpstr>Landing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Shanmukh Sahukari</dc:creator>
  <cp:lastModifiedBy>Shanmukh Sahukari</cp:lastModifiedBy>
  <cp:revision>2</cp:revision>
  <dcterms:created xsi:type="dcterms:W3CDTF">2025-12-15T10:01:24Z</dcterms:created>
  <dcterms:modified xsi:type="dcterms:W3CDTF">2026-01-12T14:21:00Z</dcterms:modified>
</cp:coreProperties>
</file>